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3A5A"/>
    <a:srgbClr val="04253A"/>
    <a:srgbClr val="0846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3" d="100"/>
          <a:sy n="123" d="100"/>
        </p:scale>
        <p:origin x="125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61993" y="127407"/>
            <a:ext cx="8834034" cy="1143000"/>
          </a:xfrm>
        </p:spPr>
        <p:txBody>
          <a:bodyPr>
            <a:normAutofit/>
          </a:bodyPr>
          <a:lstStyle/>
          <a:p>
            <a:pPr>
              <a:defRPr sz="3200" b="1"/>
            </a:pPr>
            <a:r>
              <a:rPr lang="de-DE" sz="2800" dirty="0" smtClean="0">
                <a:solidFill>
                  <a:srgbClr val="063A5A"/>
                </a:solidFill>
              </a:rPr>
              <a:t>Clinical Data </a:t>
            </a:r>
            <a:r>
              <a:rPr lang="de-DE" sz="2800" dirty="0" err="1" smtClean="0">
                <a:solidFill>
                  <a:srgbClr val="063A5A"/>
                </a:solidFill>
              </a:rPr>
              <a:t>Extraction</a:t>
            </a:r>
            <a:r>
              <a:rPr lang="de-DE" sz="2800" dirty="0" smtClean="0">
                <a:solidFill>
                  <a:srgbClr val="063A5A"/>
                </a:solidFill>
              </a:rPr>
              <a:t> </a:t>
            </a:r>
            <a:r>
              <a:rPr lang="de-DE" sz="2800" dirty="0" err="1" smtClean="0">
                <a:solidFill>
                  <a:srgbClr val="063A5A"/>
                </a:solidFill>
              </a:rPr>
              <a:t>from</a:t>
            </a:r>
            <a:r>
              <a:rPr lang="de-DE" sz="2800" dirty="0" smtClean="0">
                <a:solidFill>
                  <a:srgbClr val="063A5A"/>
                </a:solidFill>
              </a:rPr>
              <a:t> Medical Reports </a:t>
            </a:r>
            <a:r>
              <a:rPr lang="de-DE" sz="2800" dirty="0" err="1" smtClean="0">
                <a:solidFill>
                  <a:srgbClr val="063A5A"/>
                </a:solidFill>
              </a:rPr>
              <a:t>using</a:t>
            </a:r>
            <a:r>
              <a:rPr lang="de-DE" sz="2800" dirty="0" smtClean="0">
                <a:solidFill>
                  <a:srgbClr val="063A5A"/>
                </a:solidFill>
              </a:rPr>
              <a:t> GBERT-</a:t>
            </a:r>
            <a:r>
              <a:rPr lang="de-DE" sz="2800" dirty="0" err="1" smtClean="0">
                <a:solidFill>
                  <a:srgbClr val="063A5A"/>
                </a:solidFill>
              </a:rPr>
              <a:t>based</a:t>
            </a:r>
            <a:r>
              <a:rPr lang="de-DE" sz="2800" dirty="0" smtClean="0">
                <a:solidFill>
                  <a:srgbClr val="063A5A"/>
                </a:solidFill>
              </a:rPr>
              <a:t> </a:t>
            </a:r>
            <a:r>
              <a:rPr lang="de-DE" sz="2800" dirty="0" err="1" smtClean="0">
                <a:solidFill>
                  <a:srgbClr val="063A5A"/>
                </a:solidFill>
              </a:rPr>
              <a:t>Named</a:t>
            </a:r>
            <a:r>
              <a:rPr lang="de-DE" sz="2800" dirty="0" smtClean="0">
                <a:solidFill>
                  <a:srgbClr val="063A5A"/>
                </a:solidFill>
              </a:rPr>
              <a:t> Entity Recognition</a:t>
            </a:r>
            <a:endParaRPr sz="2800" dirty="0">
              <a:solidFill>
                <a:srgbClr val="063A5A"/>
              </a:solidFill>
            </a:endParaRPr>
          </a:p>
        </p:txBody>
      </p:sp>
      <p:sp>
        <p:nvSpPr>
          <p:cNvPr id="4" name="Textfeld 3"/>
          <p:cNvSpPr txBox="1"/>
          <p:nvPr/>
        </p:nvSpPr>
        <p:spPr>
          <a:xfrm>
            <a:off x="373894" y="1551710"/>
            <a:ext cx="1188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 smtClean="0">
                <a:solidFill>
                  <a:srgbClr val="063A5A"/>
                </a:solidFill>
              </a:rPr>
              <a:t>PURPOSE</a:t>
            </a:r>
            <a:endParaRPr lang="de-DE" sz="1600" b="1" dirty="0">
              <a:solidFill>
                <a:srgbClr val="063A5A"/>
              </a:solidFill>
            </a:endParaRPr>
          </a:p>
        </p:txBody>
      </p:sp>
      <p:sp>
        <p:nvSpPr>
          <p:cNvPr id="5" name="Textfeld 4"/>
          <p:cNvSpPr txBox="1"/>
          <p:nvPr/>
        </p:nvSpPr>
        <p:spPr>
          <a:xfrm>
            <a:off x="3089332" y="1546498"/>
            <a:ext cx="2247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 smtClean="0">
                <a:solidFill>
                  <a:srgbClr val="063A5A"/>
                </a:solidFill>
              </a:rPr>
              <a:t>METHOD &amp; MODEL</a:t>
            </a:r>
            <a:endParaRPr lang="de-DE" sz="2000" b="1" dirty="0">
              <a:solidFill>
                <a:srgbClr val="063A5A"/>
              </a:solidFill>
            </a:endParaRPr>
          </a:p>
        </p:txBody>
      </p:sp>
      <p:pic>
        <p:nvPicPr>
          <p:cNvPr id="11" name="Grafik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603" y="2261435"/>
            <a:ext cx="922149" cy="1017544"/>
          </a:xfrm>
          <a:prstGeom prst="rect">
            <a:avLst/>
          </a:prstGeom>
        </p:spPr>
      </p:pic>
      <p:pic>
        <p:nvPicPr>
          <p:cNvPr id="12" name="Grafik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916" y="1987591"/>
            <a:ext cx="1404938" cy="1428750"/>
          </a:xfrm>
          <a:prstGeom prst="rect">
            <a:avLst/>
          </a:prstGeom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894" y="4971628"/>
            <a:ext cx="701345" cy="708502"/>
          </a:xfrm>
          <a:prstGeom prst="rect">
            <a:avLst/>
          </a:prstGeom>
        </p:spPr>
      </p:pic>
      <p:sp>
        <p:nvSpPr>
          <p:cNvPr id="14" name="Textfeld 13"/>
          <p:cNvSpPr txBox="1"/>
          <p:nvPr/>
        </p:nvSpPr>
        <p:spPr>
          <a:xfrm>
            <a:off x="442467" y="4379225"/>
            <a:ext cx="18964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 smtClean="0">
                <a:solidFill>
                  <a:srgbClr val="063A5A"/>
                </a:solidFill>
              </a:rPr>
              <a:t>FUTURE WORKS</a:t>
            </a:r>
            <a:endParaRPr lang="de-DE" sz="2000" b="1" dirty="0">
              <a:solidFill>
                <a:srgbClr val="063A5A"/>
              </a:solidFill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1050101" y="2200399"/>
            <a:ext cx="21105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err="1" smtClean="0">
                <a:solidFill>
                  <a:srgbClr val="063A5A"/>
                </a:solidFill>
              </a:rPr>
              <a:t>Extract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structured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data</a:t>
            </a:r>
            <a:r>
              <a:rPr lang="de-DE" sz="1200" dirty="0" smtClean="0">
                <a:solidFill>
                  <a:srgbClr val="063A5A"/>
                </a:solidFill>
              </a:rPr>
              <a:t> (e.g.</a:t>
            </a:r>
          </a:p>
          <a:p>
            <a:r>
              <a:rPr lang="de-DE" sz="1200" dirty="0" err="1" smtClean="0">
                <a:solidFill>
                  <a:srgbClr val="063A5A"/>
                </a:solidFill>
              </a:rPr>
              <a:t>diagnoses</a:t>
            </a:r>
            <a:r>
              <a:rPr lang="de-DE" sz="1200" dirty="0" smtClean="0">
                <a:solidFill>
                  <a:srgbClr val="063A5A"/>
                </a:solidFill>
              </a:rPr>
              <a:t>, </a:t>
            </a:r>
            <a:r>
              <a:rPr lang="de-DE" sz="1200" dirty="0" err="1" smtClean="0">
                <a:solidFill>
                  <a:srgbClr val="063A5A"/>
                </a:solidFill>
              </a:rPr>
              <a:t>Medications</a:t>
            </a:r>
            <a:r>
              <a:rPr lang="de-DE" sz="1200" dirty="0" smtClean="0">
                <a:solidFill>
                  <a:srgbClr val="063A5A"/>
                </a:solidFill>
              </a:rPr>
              <a:t>, </a:t>
            </a:r>
            <a:r>
              <a:rPr lang="de-DE" sz="1200" dirty="0" err="1" smtClean="0">
                <a:solidFill>
                  <a:srgbClr val="063A5A"/>
                </a:solidFill>
              </a:rPr>
              <a:t>dates</a:t>
            </a:r>
            <a:r>
              <a:rPr lang="de-DE" sz="1200" dirty="0" smtClean="0">
                <a:solidFill>
                  <a:srgbClr val="063A5A"/>
                </a:solidFill>
              </a:rPr>
              <a:t>)</a:t>
            </a:r>
            <a:endParaRPr lang="de-DE" sz="1200" dirty="0" smtClean="0">
              <a:solidFill>
                <a:srgbClr val="063A5A"/>
              </a:solidFill>
            </a:endParaRPr>
          </a:p>
          <a:p>
            <a:r>
              <a:rPr lang="de-DE" sz="1200" dirty="0" err="1">
                <a:solidFill>
                  <a:srgbClr val="063A5A"/>
                </a:solidFill>
              </a:rPr>
              <a:t>f</a:t>
            </a:r>
            <a:r>
              <a:rPr lang="de-DE" sz="1200" dirty="0" err="1" smtClean="0">
                <a:solidFill>
                  <a:srgbClr val="063A5A"/>
                </a:solidFill>
              </a:rPr>
              <a:t>rom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unstructured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g</a:t>
            </a:r>
            <a:r>
              <a:rPr lang="de-DE" sz="1200" dirty="0" err="1" smtClean="0">
                <a:solidFill>
                  <a:srgbClr val="063A5A"/>
                </a:solidFill>
              </a:rPr>
              <a:t>erman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</a:p>
          <a:p>
            <a:r>
              <a:rPr lang="de-DE" sz="1200" dirty="0" err="1" smtClean="0">
                <a:solidFill>
                  <a:srgbClr val="063A5A"/>
                </a:solidFill>
              </a:rPr>
              <a:t>clinical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text</a:t>
            </a:r>
            <a:endParaRPr lang="de-DE" sz="1200" dirty="0">
              <a:solidFill>
                <a:srgbClr val="063A5A"/>
              </a:solidFill>
            </a:endParaRPr>
          </a:p>
        </p:txBody>
      </p:sp>
      <p:sp>
        <p:nvSpPr>
          <p:cNvPr id="18" name="Textfeld 17"/>
          <p:cNvSpPr txBox="1"/>
          <p:nvPr/>
        </p:nvSpPr>
        <p:spPr>
          <a:xfrm>
            <a:off x="2740617" y="3379616"/>
            <a:ext cx="321344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smtClean="0">
                <a:solidFill>
                  <a:srgbClr val="063A5A"/>
                </a:solidFill>
              </a:rPr>
              <a:t>Input: Clinical </a:t>
            </a:r>
            <a:r>
              <a:rPr lang="de-DE" sz="1200" dirty="0" err="1" smtClean="0">
                <a:solidFill>
                  <a:srgbClr val="063A5A"/>
                </a:solidFill>
              </a:rPr>
              <a:t>text</a:t>
            </a:r>
            <a:r>
              <a:rPr lang="de-DE" sz="1200" dirty="0" smtClean="0">
                <a:solidFill>
                  <a:srgbClr val="063A5A"/>
                </a:solidFill>
              </a:rPr>
              <a:t> (PDF, DOCX, </a:t>
            </a:r>
            <a:r>
              <a:rPr lang="de-DE" sz="1200" dirty="0" err="1" smtClean="0">
                <a:solidFill>
                  <a:srgbClr val="063A5A"/>
                </a:solidFill>
              </a:rPr>
              <a:t>image</a:t>
            </a:r>
            <a:r>
              <a:rPr lang="de-DE" sz="1200" dirty="0" smtClean="0">
                <a:solidFill>
                  <a:srgbClr val="063A5A"/>
                </a:solidFill>
              </a:rPr>
              <a:t>, </a:t>
            </a:r>
            <a:r>
              <a:rPr lang="de-DE" sz="1200" dirty="0" err="1" smtClean="0">
                <a:solidFill>
                  <a:srgbClr val="063A5A"/>
                </a:solidFill>
              </a:rPr>
              <a:t>plain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text</a:t>
            </a:r>
            <a:r>
              <a:rPr lang="de-DE" sz="1200" dirty="0" smtClean="0">
                <a:solidFill>
                  <a:srgbClr val="063A5A"/>
                </a:solidFill>
              </a:rPr>
              <a:t>)</a:t>
            </a:r>
            <a:endParaRPr lang="de-DE" sz="1200" dirty="0" smtClean="0">
              <a:solidFill>
                <a:srgbClr val="063A5A"/>
              </a:solidFill>
            </a:endParaRPr>
          </a:p>
          <a:p>
            <a:r>
              <a:rPr lang="de-DE" sz="1200" dirty="0" smtClean="0">
                <a:solidFill>
                  <a:srgbClr val="063A5A"/>
                </a:solidFill>
              </a:rPr>
              <a:t>OCR &amp; </a:t>
            </a:r>
            <a:r>
              <a:rPr lang="de-DE" sz="1200" dirty="0" err="1" smtClean="0">
                <a:solidFill>
                  <a:srgbClr val="063A5A"/>
                </a:solidFill>
              </a:rPr>
              <a:t>preprocessing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</a:p>
          <a:p>
            <a:r>
              <a:rPr lang="de-DE" sz="1200" dirty="0" smtClean="0">
                <a:solidFill>
                  <a:srgbClr val="063A5A"/>
                </a:solidFill>
              </a:rPr>
              <a:t>GBERT </a:t>
            </a:r>
            <a:r>
              <a:rPr lang="de-DE" sz="1200" dirty="0" err="1" smtClean="0">
                <a:solidFill>
                  <a:srgbClr val="063A5A"/>
                </a:solidFill>
              </a:rPr>
              <a:t>model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for</a:t>
            </a:r>
            <a:r>
              <a:rPr lang="de-DE" sz="1200" dirty="0" smtClean="0">
                <a:solidFill>
                  <a:srgbClr val="063A5A"/>
                </a:solidFill>
              </a:rPr>
              <a:t> NER </a:t>
            </a:r>
            <a:r>
              <a:rPr lang="de-DE" sz="1200" dirty="0" err="1" smtClean="0">
                <a:solidFill>
                  <a:srgbClr val="063A5A"/>
                </a:solidFill>
              </a:rPr>
              <a:t>token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level</a:t>
            </a:r>
            <a:endParaRPr lang="de-DE" sz="1200" dirty="0" smtClean="0">
              <a:solidFill>
                <a:srgbClr val="063A5A"/>
              </a:solidFill>
            </a:endParaRPr>
          </a:p>
          <a:p>
            <a:r>
              <a:rPr lang="de-DE" sz="1200" dirty="0" smtClean="0">
                <a:solidFill>
                  <a:srgbClr val="063A5A"/>
                </a:solidFill>
              </a:rPr>
              <a:t>Post-</a:t>
            </a:r>
            <a:r>
              <a:rPr lang="de-DE" sz="1200" dirty="0" err="1" smtClean="0">
                <a:solidFill>
                  <a:srgbClr val="063A5A"/>
                </a:solidFill>
              </a:rPr>
              <a:t>processing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into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structured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outputs</a:t>
            </a:r>
            <a:r>
              <a:rPr lang="de-DE" sz="1200" dirty="0" smtClean="0">
                <a:solidFill>
                  <a:srgbClr val="063A5A"/>
                </a:solidFill>
              </a:rPr>
              <a:t>(JSON)</a:t>
            </a:r>
          </a:p>
          <a:p>
            <a:r>
              <a:rPr lang="de-DE" sz="1200" dirty="0" err="1" smtClean="0">
                <a:solidFill>
                  <a:srgbClr val="063A5A"/>
                </a:solidFill>
              </a:rPr>
              <a:t>Synthetic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data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used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for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training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and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validation</a:t>
            </a:r>
            <a:endParaRPr lang="de-DE" sz="1200" dirty="0">
              <a:solidFill>
                <a:srgbClr val="063A5A"/>
              </a:solidFill>
            </a:endParaRPr>
          </a:p>
        </p:txBody>
      </p:sp>
      <p:sp>
        <p:nvSpPr>
          <p:cNvPr id="21" name="Textfeld 20"/>
          <p:cNvSpPr txBox="1"/>
          <p:nvPr/>
        </p:nvSpPr>
        <p:spPr>
          <a:xfrm>
            <a:off x="1151411" y="4971628"/>
            <a:ext cx="26482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err="1" smtClean="0">
                <a:solidFill>
                  <a:srgbClr val="063A5A"/>
                </a:solidFill>
              </a:rPr>
              <a:t>Map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extracted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entities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to</a:t>
            </a:r>
            <a:r>
              <a:rPr lang="de-DE" sz="1200" dirty="0" smtClean="0">
                <a:solidFill>
                  <a:srgbClr val="063A5A"/>
                </a:solidFill>
              </a:rPr>
              <a:t> HL7 FHIR</a:t>
            </a:r>
          </a:p>
          <a:p>
            <a:r>
              <a:rPr lang="de-DE" sz="1200" dirty="0" err="1" smtClean="0">
                <a:solidFill>
                  <a:srgbClr val="063A5A"/>
                </a:solidFill>
              </a:rPr>
              <a:t>Embed</a:t>
            </a:r>
            <a:r>
              <a:rPr lang="de-DE" sz="1200" dirty="0" smtClean="0">
                <a:solidFill>
                  <a:srgbClr val="063A5A"/>
                </a:solidFill>
              </a:rPr>
              <a:t> in DICOM Structured Report</a:t>
            </a:r>
          </a:p>
          <a:p>
            <a:r>
              <a:rPr lang="de-DE" sz="1200" dirty="0" smtClean="0">
                <a:solidFill>
                  <a:srgbClr val="063A5A"/>
                </a:solidFill>
              </a:rPr>
              <a:t>Evaluation on </a:t>
            </a:r>
            <a:r>
              <a:rPr lang="de-DE" sz="1200" dirty="0" err="1" smtClean="0">
                <a:solidFill>
                  <a:srgbClr val="063A5A"/>
                </a:solidFill>
              </a:rPr>
              <a:t>complex</a:t>
            </a:r>
            <a:r>
              <a:rPr lang="de-DE" sz="1200" dirty="0" smtClean="0">
                <a:solidFill>
                  <a:srgbClr val="063A5A"/>
                </a:solidFill>
              </a:rPr>
              <a:t>  </a:t>
            </a:r>
            <a:r>
              <a:rPr lang="de-DE" sz="1200" dirty="0" err="1" smtClean="0">
                <a:solidFill>
                  <a:srgbClr val="063A5A"/>
                </a:solidFill>
              </a:rPr>
              <a:t>clinical</a:t>
            </a:r>
            <a:r>
              <a:rPr lang="de-DE" sz="1200" dirty="0" smtClean="0">
                <a:solidFill>
                  <a:srgbClr val="063A5A"/>
                </a:solidFill>
              </a:rPr>
              <a:t> </a:t>
            </a:r>
            <a:r>
              <a:rPr lang="de-DE" sz="1200" dirty="0" err="1" smtClean="0">
                <a:solidFill>
                  <a:srgbClr val="063A5A"/>
                </a:solidFill>
              </a:rPr>
              <a:t>datasets</a:t>
            </a:r>
            <a:endParaRPr lang="de-DE" sz="1200" dirty="0">
              <a:solidFill>
                <a:srgbClr val="063A5A"/>
              </a:solidFill>
            </a:endParaRPr>
          </a:p>
        </p:txBody>
      </p:sp>
      <p:grpSp>
        <p:nvGrpSpPr>
          <p:cNvPr id="7" name="Gruppieren 6"/>
          <p:cNvGrpSpPr/>
          <p:nvPr/>
        </p:nvGrpSpPr>
        <p:grpSpPr>
          <a:xfrm>
            <a:off x="5944670" y="3416341"/>
            <a:ext cx="2819448" cy="2718441"/>
            <a:chOff x="6115143" y="1553171"/>
            <a:chExt cx="2819448" cy="2718441"/>
          </a:xfrm>
        </p:grpSpPr>
        <p:sp>
          <p:nvSpPr>
            <p:cNvPr id="6" name="Textfeld 5"/>
            <p:cNvSpPr txBox="1"/>
            <p:nvPr/>
          </p:nvSpPr>
          <p:spPr>
            <a:xfrm>
              <a:off x="6687703" y="1553171"/>
              <a:ext cx="153426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 dirty="0" smtClean="0">
                  <a:solidFill>
                    <a:srgbClr val="063A5A"/>
                  </a:solidFill>
                </a:rPr>
                <a:t>KEY RESULTS</a:t>
              </a:r>
              <a:endParaRPr lang="de-DE" sz="2000" b="1" dirty="0">
                <a:solidFill>
                  <a:srgbClr val="063A5A"/>
                </a:solidFill>
              </a:endParaRPr>
            </a:p>
          </p:txBody>
        </p:sp>
        <p:pic>
          <p:nvPicPr>
            <p:cNvPr id="15" name="Grafik 1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82551" y="2266931"/>
              <a:ext cx="811051" cy="715900"/>
            </a:xfrm>
            <a:prstGeom prst="rect">
              <a:avLst/>
            </a:prstGeom>
          </p:spPr>
        </p:pic>
        <p:pic>
          <p:nvPicPr>
            <p:cNvPr id="16" name="Grafik 1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15143" y="3180354"/>
              <a:ext cx="1049165" cy="796131"/>
            </a:xfrm>
            <a:prstGeom prst="rect">
              <a:avLst/>
            </a:prstGeom>
          </p:spPr>
        </p:pic>
        <p:sp>
          <p:nvSpPr>
            <p:cNvPr id="19" name="Textfeld 18"/>
            <p:cNvSpPr txBox="1"/>
            <p:nvPr/>
          </p:nvSpPr>
          <p:spPr>
            <a:xfrm>
              <a:off x="7004840" y="2043216"/>
              <a:ext cx="159716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 smtClean="0">
                  <a:solidFill>
                    <a:srgbClr val="063A5A"/>
                  </a:solidFill>
                </a:rPr>
                <a:t>High </a:t>
              </a:r>
              <a:r>
                <a:rPr lang="de-DE" sz="1200" dirty="0" err="1" smtClean="0">
                  <a:solidFill>
                    <a:srgbClr val="063A5A"/>
                  </a:solidFill>
                </a:rPr>
                <a:t>performance</a:t>
              </a:r>
              <a:r>
                <a:rPr lang="de-DE" sz="1200" dirty="0" smtClean="0">
                  <a:solidFill>
                    <a:srgbClr val="063A5A"/>
                  </a:solidFill>
                </a:rPr>
                <a:t> on </a:t>
              </a:r>
            </a:p>
            <a:p>
              <a:r>
                <a:rPr lang="de-DE" sz="1200" dirty="0" err="1" smtClean="0">
                  <a:solidFill>
                    <a:srgbClr val="063A5A"/>
                  </a:solidFill>
                </a:rPr>
                <a:t>structured</a:t>
              </a:r>
              <a:r>
                <a:rPr lang="de-DE" sz="1200" dirty="0">
                  <a:solidFill>
                    <a:srgbClr val="063A5A"/>
                  </a:solidFill>
                </a:rPr>
                <a:t> </a:t>
              </a:r>
              <a:r>
                <a:rPr lang="de-DE" sz="1200" dirty="0" err="1" smtClean="0">
                  <a:solidFill>
                    <a:srgbClr val="063A5A"/>
                  </a:solidFill>
                </a:rPr>
                <a:t>entities</a:t>
              </a:r>
              <a:endParaRPr lang="de-DE" sz="1200" dirty="0">
                <a:solidFill>
                  <a:srgbClr val="063A5A"/>
                </a:solidFill>
              </a:endParaRPr>
            </a:p>
            <a:p>
              <a:r>
                <a:rPr lang="de-DE" sz="1200" b="1" dirty="0" smtClean="0">
                  <a:solidFill>
                    <a:srgbClr val="063A5A"/>
                  </a:solidFill>
                </a:rPr>
                <a:t>DATE </a:t>
              </a:r>
              <a:r>
                <a:rPr lang="de-DE" sz="1200" b="1" dirty="0">
                  <a:solidFill>
                    <a:srgbClr val="063A5A"/>
                  </a:solidFill>
                </a:rPr>
                <a:t>≈ </a:t>
              </a:r>
              <a:r>
                <a:rPr lang="de-DE" sz="1200" b="1" dirty="0" smtClean="0">
                  <a:solidFill>
                    <a:srgbClr val="063A5A"/>
                  </a:solidFill>
                </a:rPr>
                <a:t>0.90</a:t>
              </a:r>
            </a:p>
            <a:p>
              <a:r>
                <a:rPr lang="de-DE" sz="1200" b="1" dirty="0" smtClean="0">
                  <a:solidFill>
                    <a:srgbClr val="063A5A"/>
                  </a:solidFill>
                </a:rPr>
                <a:t>ORG, </a:t>
              </a:r>
              <a:r>
                <a:rPr lang="de-DE" sz="1200" b="1" dirty="0">
                  <a:solidFill>
                    <a:srgbClr val="063A5A"/>
                  </a:solidFill>
                </a:rPr>
                <a:t>DOCTOR ≈ </a:t>
              </a:r>
              <a:r>
                <a:rPr lang="de-DE" sz="1200" b="1" dirty="0" smtClean="0">
                  <a:solidFill>
                    <a:srgbClr val="063A5A"/>
                  </a:solidFill>
                </a:rPr>
                <a:t>0.85</a:t>
              </a:r>
              <a:endParaRPr lang="de-DE" sz="1200" b="1" dirty="0">
                <a:solidFill>
                  <a:srgbClr val="063A5A"/>
                </a:solidFill>
              </a:endParaRPr>
            </a:p>
          </p:txBody>
        </p:sp>
        <p:sp>
          <p:nvSpPr>
            <p:cNvPr id="20" name="Textfeld 19"/>
            <p:cNvSpPr txBox="1"/>
            <p:nvPr/>
          </p:nvSpPr>
          <p:spPr>
            <a:xfrm>
              <a:off x="7003204" y="2828112"/>
              <a:ext cx="164468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 err="1" smtClean="0">
                  <a:solidFill>
                    <a:srgbClr val="063A5A"/>
                  </a:solidFill>
                </a:rPr>
                <a:t>Lower</a:t>
              </a:r>
              <a:r>
                <a:rPr lang="de-DE" sz="1200" dirty="0" smtClean="0">
                  <a:solidFill>
                    <a:srgbClr val="063A5A"/>
                  </a:solidFill>
                </a:rPr>
                <a:t> </a:t>
              </a:r>
              <a:r>
                <a:rPr lang="de-DE" sz="1200" dirty="0" err="1" smtClean="0">
                  <a:solidFill>
                    <a:srgbClr val="063A5A"/>
                  </a:solidFill>
                </a:rPr>
                <a:t>performance</a:t>
              </a:r>
              <a:r>
                <a:rPr lang="de-DE" sz="1200" dirty="0" smtClean="0">
                  <a:solidFill>
                    <a:srgbClr val="063A5A"/>
                  </a:solidFill>
                </a:rPr>
                <a:t> on </a:t>
              </a:r>
            </a:p>
            <a:p>
              <a:r>
                <a:rPr lang="de-DE" sz="1200" dirty="0" err="1" smtClean="0">
                  <a:solidFill>
                    <a:srgbClr val="063A5A"/>
                  </a:solidFill>
                </a:rPr>
                <a:t>complex</a:t>
              </a:r>
              <a:r>
                <a:rPr lang="de-DE" sz="1200" dirty="0" smtClean="0">
                  <a:solidFill>
                    <a:srgbClr val="063A5A"/>
                  </a:solidFill>
                </a:rPr>
                <a:t> </a:t>
              </a:r>
              <a:r>
                <a:rPr lang="de-DE" sz="1200" dirty="0" err="1" smtClean="0">
                  <a:solidFill>
                    <a:srgbClr val="063A5A"/>
                  </a:solidFill>
                </a:rPr>
                <a:t>terms</a:t>
              </a:r>
              <a:endParaRPr lang="de-DE" sz="1200" dirty="0">
                <a:solidFill>
                  <a:srgbClr val="063A5A"/>
                </a:solidFill>
              </a:endParaRPr>
            </a:p>
            <a:p>
              <a:r>
                <a:rPr lang="de-DE" sz="1200" b="1" dirty="0" smtClean="0">
                  <a:solidFill>
                    <a:srgbClr val="063A5A"/>
                  </a:solidFill>
                </a:rPr>
                <a:t>DIAGNOSIS, </a:t>
              </a:r>
            </a:p>
            <a:p>
              <a:r>
                <a:rPr lang="de-DE" sz="1200" b="1" dirty="0" smtClean="0">
                  <a:solidFill>
                    <a:srgbClr val="063A5A"/>
                  </a:solidFill>
                </a:rPr>
                <a:t>MEDICATION </a:t>
              </a:r>
              <a:r>
                <a:rPr lang="de-DE" sz="1200" b="1" dirty="0">
                  <a:solidFill>
                    <a:srgbClr val="063A5A"/>
                  </a:solidFill>
                </a:rPr>
                <a:t>≈ </a:t>
              </a:r>
              <a:r>
                <a:rPr lang="de-DE" sz="1200" b="1" dirty="0" smtClean="0">
                  <a:solidFill>
                    <a:srgbClr val="063A5A"/>
                  </a:solidFill>
                </a:rPr>
                <a:t>0.60</a:t>
              </a:r>
              <a:endParaRPr lang="de-DE" sz="1200" b="1" dirty="0">
                <a:solidFill>
                  <a:srgbClr val="063A5A"/>
                </a:solidFill>
              </a:endParaRPr>
            </a:p>
          </p:txBody>
        </p:sp>
        <p:sp>
          <p:nvSpPr>
            <p:cNvPr id="23" name="Textfeld 22"/>
            <p:cNvSpPr txBox="1"/>
            <p:nvPr/>
          </p:nvSpPr>
          <p:spPr>
            <a:xfrm>
              <a:off x="7042919" y="3625281"/>
              <a:ext cx="18916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 err="1" smtClean="0">
                  <a:solidFill>
                    <a:srgbClr val="063A5A"/>
                  </a:solidFill>
                </a:rPr>
                <a:t>Frequent</a:t>
              </a:r>
              <a:r>
                <a:rPr lang="de-DE" sz="1200" dirty="0" smtClean="0">
                  <a:solidFill>
                    <a:srgbClr val="063A5A"/>
                  </a:solidFill>
                </a:rPr>
                <a:t> </a:t>
              </a:r>
              <a:r>
                <a:rPr lang="de-DE" sz="1200" dirty="0" err="1" smtClean="0">
                  <a:solidFill>
                    <a:srgbClr val="063A5A"/>
                  </a:solidFill>
                </a:rPr>
                <a:t>confusions</a:t>
              </a:r>
              <a:endParaRPr lang="de-DE" sz="1200" dirty="0">
                <a:solidFill>
                  <a:srgbClr val="063A5A"/>
                </a:solidFill>
              </a:endParaRPr>
            </a:p>
            <a:p>
              <a:r>
                <a:rPr lang="de-DE" sz="1200" b="1" dirty="0" smtClean="0">
                  <a:solidFill>
                    <a:srgbClr val="063A5A"/>
                  </a:solidFill>
                </a:rPr>
                <a:t>SYMPTOMS </a:t>
              </a:r>
              <a:r>
                <a:rPr lang="de-DE" sz="1200" b="1" dirty="0" err="1" smtClean="0">
                  <a:solidFill>
                    <a:srgbClr val="063A5A"/>
                  </a:solidFill>
                </a:rPr>
                <a:t>vs</a:t>
              </a:r>
              <a:r>
                <a:rPr lang="de-DE" sz="1200" b="1" dirty="0" smtClean="0">
                  <a:solidFill>
                    <a:srgbClr val="063A5A"/>
                  </a:solidFill>
                </a:rPr>
                <a:t> DIAGNOSIS </a:t>
              </a:r>
            </a:p>
            <a:p>
              <a:endParaRPr lang="de-DE" sz="1200" b="1" dirty="0">
                <a:solidFill>
                  <a:srgbClr val="063A5A"/>
                </a:solidFill>
              </a:endParaRPr>
            </a:p>
          </p:txBody>
        </p:sp>
      </p:grpSp>
      <p:grpSp>
        <p:nvGrpSpPr>
          <p:cNvPr id="8" name="Gruppieren 7"/>
          <p:cNvGrpSpPr/>
          <p:nvPr/>
        </p:nvGrpSpPr>
        <p:grpSpPr>
          <a:xfrm>
            <a:off x="5986281" y="1597969"/>
            <a:ext cx="2909746" cy="1653190"/>
            <a:chOff x="5817599" y="4545979"/>
            <a:chExt cx="2909746" cy="1653190"/>
          </a:xfrm>
        </p:grpSpPr>
        <p:pic>
          <p:nvPicPr>
            <p:cNvPr id="2" name="Grafik 1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17599" y="4971628"/>
              <a:ext cx="580069" cy="600304"/>
            </a:xfrm>
            <a:prstGeom prst="rect">
              <a:avLst/>
            </a:prstGeom>
          </p:spPr>
        </p:pic>
        <p:sp>
          <p:nvSpPr>
            <p:cNvPr id="22" name="Textfeld 21"/>
            <p:cNvSpPr txBox="1"/>
            <p:nvPr/>
          </p:nvSpPr>
          <p:spPr>
            <a:xfrm>
              <a:off x="6115143" y="4545979"/>
              <a:ext cx="153881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 dirty="0" smtClean="0">
                  <a:solidFill>
                    <a:srgbClr val="063A5A"/>
                  </a:solidFill>
                </a:rPr>
                <a:t>EVALUATION</a:t>
              </a:r>
              <a:endParaRPr lang="de-DE" sz="2000" b="1" dirty="0">
                <a:solidFill>
                  <a:srgbClr val="063A5A"/>
                </a:solidFill>
              </a:endParaRPr>
            </a:p>
          </p:txBody>
        </p:sp>
        <p:sp>
          <p:nvSpPr>
            <p:cNvPr id="24" name="Textfeld 23"/>
            <p:cNvSpPr txBox="1"/>
            <p:nvPr/>
          </p:nvSpPr>
          <p:spPr>
            <a:xfrm>
              <a:off x="6551108" y="4998840"/>
              <a:ext cx="2176237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 smtClean="0">
                  <a:solidFill>
                    <a:srgbClr val="063A5A"/>
                  </a:solidFill>
                </a:rPr>
                <a:t>Entity-level-</a:t>
              </a:r>
              <a:r>
                <a:rPr lang="de-DE" sz="1200" dirty="0" err="1" smtClean="0">
                  <a:solidFill>
                    <a:srgbClr val="063A5A"/>
                  </a:solidFill>
                </a:rPr>
                <a:t>metrics</a:t>
              </a:r>
              <a:r>
                <a:rPr lang="de-DE" sz="1200" dirty="0" smtClean="0">
                  <a:solidFill>
                    <a:srgbClr val="063A5A"/>
                  </a:solidFill>
                </a:rPr>
                <a:t> </a:t>
              </a:r>
            </a:p>
            <a:p>
              <a:r>
                <a:rPr lang="de-DE" sz="1200" dirty="0">
                  <a:solidFill>
                    <a:srgbClr val="063A5A"/>
                  </a:solidFill>
                </a:rPr>
                <a:t>-</a:t>
              </a:r>
              <a:r>
                <a:rPr lang="de-DE" sz="1200" dirty="0" smtClean="0">
                  <a:solidFill>
                    <a:srgbClr val="063A5A"/>
                  </a:solidFill>
                </a:rPr>
                <a:t>Precision, Recall, F1</a:t>
              </a:r>
            </a:p>
            <a:p>
              <a:r>
                <a:rPr lang="de-DE" sz="1200" dirty="0" err="1" smtClean="0">
                  <a:solidFill>
                    <a:srgbClr val="063A5A"/>
                  </a:solidFill>
                </a:rPr>
                <a:t>Confusion</a:t>
              </a:r>
              <a:r>
                <a:rPr lang="de-DE" sz="1200" dirty="0" smtClean="0">
                  <a:solidFill>
                    <a:srgbClr val="063A5A"/>
                  </a:solidFill>
                </a:rPr>
                <a:t> Analysis</a:t>
              </a:r>
            </a:p>
            <a:p>
              <a:pPr marL="171450" indent="-171450">
                <a:buFontTx/>
                <a:buChar char="-"/>
              </a:pPr>
              <a:r>
                <a:rPr lang="de-DE" sz="1200" dirty="0" smtClean="0">
                  <a:solidFill>
                    <a:srgbClr val="063A5A"/>
                  </a:solidFill>
                </a:rPr>
                <a:t>Bar </a:t>
              </a:r>
              <a:r>
                <a:rPr lang="de-DE" sz="1200" dirty="0" err="1" smtClean="0">
                  <a:solidFill>
                    <a:srgbClr val="063A5A"/>
                  </a:solidFill>
                </a:rPr>
                <a:t>chart</a:t>
              </a:r>
              <a:r>
                <a:rPr lang="de-DE" sz="1200" dirty="0" smtClean="0">
                  <a:solidFill>
                    <a:srgbClr val="063A5A"/>
                  </a:solidFill>
                </a:rPr>
                <a:t> &amp; </a:t>
              </a:r>
              <a:r>
                <a:rPr lang="de-DE" sz="1200" dirty="0" err="1" smtClean="0">
                  <a:solidFill>
                    <a:srgbClr val="063A5A"/>
                  </a:solidFill>
                </a:rPr>
                <a:t>Heatmap</a:t>
              </a:r>
              <a:endParaRPr lang="de-DE" sz="1200" dirty="0" smtClean="0">
                <a:solidFill>
                  <a:srgbClr val="063A5A"/>
                </a:solidFill>
              </a:endParaRPr>
            </a:p>
            <a:p>
              <a:pPr marL="171450" indent="-171450">
                <a:buFontTx/>
                <a:buChar char="-"/>
              </a:pPr>
              <a:r>
                <a:rPr lang="de-DE" sz="1200" dirty="0" err="1" smtClean="0">
                  <a:solidFill>
                    <a:srgbClr val="063A5A"/>
                  </a:solidFill>
                </a:rPr>
                <a:t>Misclassifications</a:t>
              </a:r>
              <a:r>
                <a:rPr lang="de-DE" sz="1200" dirty="0" smtClean="0">
                  <a:solidFill>
                    <a:srgbClr val="063A5A"/>
                  </a:solidFill>
                </a:rPr>
                <a:t> </a:t>
              </a:r>
              <a:r>
                <a:rPr lang="de-DE" sz="1200" dirty="0" err="1" smtClean="0">
                  <a:solidFill>
                    <a:srgbClr val="063A5A"/>
                  </a:solidFill>
                </a:rPr>
                <a:t>highlighted</a:t>
              </a:r>
              <a:endParaRPr lang="de-DE" sz="1200" dirty="0">
                <a:solidFill>
                  <a:srgbClr val="063A5A"/>
                </a:solidFill>
              </a:endParaRPr>
            </a:p>
            <a:p>
              <a:endParaRPr lang="de-DE" sz="1200" b="1" dirty="0">
                <a:solidFill>
                  <a:srgbClr val="063A5A"/>
                </a:solidFill>
              </a:endParaRPr>
            </a:p>
          </p:txBody>
        </p:sp>
      </p:grpSp>
      <p:sp>
        <p:nvSpPr>
          <p:cNvPr id="25" name="TextBox 5"/>
          <p:cNvSpPr txBox="1"/>
          <p:nvPr/>
        </p:nvSpPr>
        <p:spPr>
          <a:xfrm>
            <a:off x="457200" y="6292305"/>
            <a:ext cx="6051721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rPr sz="1200" i="1" dirty="0">
                <a:solidFill>
                  <a:srgbClr val="063A5A"/>
                </a:solidFill>
              </a:rPr>
              <a:t>📌 Take-home message: Framework reliably evaluates NER models on synthetic clinical text.</a:t>
            </a:r>
          </a:p>
          <a:p>
            <a:pPr>
              <a:defRPr sz="1800" b="1">
                <a:solidFill>
                  <a:srgbClr val="003366"/>
                </a:solidFill>
              </a:defRPr>
            </a:pPr>
            <a:r>
              <a:rPr sz="1200" i="1" dirty="0">
                <a:solidFill>
                  <a:srgbClr val="063A5A"/>
                </a:solidFill>
              </a:rPr>
              <a:t>Strong performance on structured data, challenges remain in clinical semantics.</a:t>
            </a:r>
          </a:p>
        </p:txBody>
      </p:sp>
    </p:spTree>
    <p:extLst>
      <p:ext uri="{BB962C8B-B14F-4D97-AF65-F5344CB8AC3E}">
        <p14:creationId xmlns:p14="http://schemas.microsoft.com/office/powerpoint/2010/main" val="11543509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rPr dirty="0"/>
              <a:t>Evaluation of Clinical NER Models with Synthetic Reports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371600"/>
            <a:ext cx="2286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Workflow</a:t>
            </a:r>
          </a:p>
          <a:p>
            <a:pPr>
              <a:defRPr sz="1600"/>
            </a:pPr>
            <a:endParaRPr/>
          </a:p>
          <a:p>
            <a:pPr>
              <a:defRPr sz="1600"/>
            </a:pPr>
            <a:r>
              <a:t>📄 Synthetic Clinical Reports</a:t>
            </a:r>
          </a:p>
          <a:p>
            <a:pPr>
              <a:defRPr sz="1600"/>
            </a:pPr>
            <a:r>
              <a:t>↓</a:t>
            </a:r>
          </a:p>
          <a:p>
            <a:pPr>
              <a:defRPr sz="1600"/>
            </a:pPr>
            <a:r>
              <a:t>🤖 NER Model Predictions</a:t>
            </a:r>
          </a:p>
          <a:p>
            <a:pPr>
              <a:defRPr sz="1600"/>
            </a:pPr>
            <a:r>
              <a:t>↓</a:t>
            </a:r>
          </a:p>
          <a:p>
            <a:pPr>
              <a:defRPr sz="1600"/>
            </a:pPr>
            <a:r>
              <a:t>📑 Reference Annotations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1371600"/>
            <a:ext cx="2743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Evaluation</a:t>
            </a:r>
          </a:p>
          <a:p>
            <a:pPr>
              <a:defRPr sz="1600"/>
            </a:pPr>
            <a:endParaRPr/>
          </a:p>
          <a:p>
            <a:pPr>
              <a:defRPr sz="1600"/>
            </a:pPr>
            <a:r>
              <a:t>📊 Entity-level Metrics</a:t>
            </a:r>
          </a:p>
          <a:p>
            <a:pPr>
              <a:defRPr sz="1600"/>
            </a:pPr>
            <a:r>
              <a:t>- Precision, Recall, F1, Support</a:t>
            </a:r>
          </a:p>
          <a:p>
            <a:pPr>
              <a:defRPr sz="1600"/>
            </a:pPr>
            <a:endParaRPr/>
          </a:p>
          <a:p>
            <a:pPr>
              <a:defRPr sz="1600"/>
            </a:pPr>
            <a:r>
              <a:t>🔄 Confusion Analysis</a:t>
            </a:r>
          </a:p>
          <a:p>
            <a:pPr>
              <a:defRPr sz="1600"/>
            </a:pPr>
            <a:r>
              <a:t>- Bar chart &amp; Heatmap</a:t>
            </a:r>
          </a:p>
          <a:p>
            <a:pPr>
              <a:defRPr sz="1600"/>
            </a:pPr>
            <a:r>
              <a:t>- Misclassifications highlighted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371600"/>
            <a:ext cx="2743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Key Results</a:t>
            </a:r>
          </a:p>
          <a:p>
            <a:pPr>
              <a:defRPr sz="1600"/>
            </a:pPr>
            <a:endParaRPr dirty="0"/>
          </a:p>
          <a:p>
            <a:pPr>
              <a:defRPr sz="1600"/>
            </a:pPr>
            <a:r>
              <a:rPr dirty="0"/>
              <a:t>✅ High performance on structured entities (DATE, ORG)</a:t>
            </a:r>
          </a:p>
          <a:p>
            <a:pPr>
              <a:defRPr sz="1600"/>
            </a:pPr>
            <a:r>
              <a:rPr dirty="0"/>
              <a:t>⚠️ Lower recall on clinical terms (DIAGNOSIS, MEDICATION)</a:t>
            </a:r>
          </a:p>
          <a:p>
            <a:pPr>
              <a:defRPr sz="1600"/>
            </a:pPr>
            <a:r>
              <a:rPr dirty="0"/>
              <a:t>🔄 Frequent confusions (SYMPTOM vs DIAGNOSIS)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📌 Take-home message: Framework reliably evaluates NER models on synthetic clinical text.</a:t>
            </a:r>
          </a:p>
          <a:p>
            <a:pPr>
              <a:defRPr sz="1800" b="1">
                <a:solidFill>
                  <a:srgbClr val="003366"/>
                </a:solidFill>
              </a:defRPr>
            </a:pPr>
            <a:r>
              <a:t>Strong performance on structured data, challenges remain in clinical semantics.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494868"/>
            <a:ext cx="914400" cy="914400"/>
          </a:xfrm>
          <a:prstGeom prst="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Entities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053166" y="3657600"/>
            <a:ext cx="1828800" cy="914400"/>
          </a:xfrm>
          <a:prstGeom prst="rect">
            <a:avLst/>
          </a:prstGeom>
          <a:solidFill>
            <a:srgbClr val="C0504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rPr dirty="0"/>
              <a:t>Confusion Matrix</a:t>
            </a:r>
          </a:p>
          <a:p>
            <a:r>
              <a:rPr dirty="0"/>
              <a:t>(DATE vs ORG vs DIAGNOSIS)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3790" y="3494868"/>
            <a:ext cx="1828800" cy="914400"/>
          </a:xfrm>
          <a:prstGeom prst="rect">
            <a:avLst/>
          </a:prstGeom>
          <a:solidFill>
            <a:srgbClr val="9BBB5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Precision / Recall / F1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275</Words>
  <Application>Microsoft Office PowerPoint</Application>
  <PresentationFormat>Bildschirmpräsentation (4:3)</PresentationFormat>
  <Paragraphs>62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Clinical Data Extraction from Medical Reports using GBERT-based Named Entity Recognition</vt:lpstr>
      <vt:lpstr>Evaluation of Clinical NER Models with Synthetic Reports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Evaluation of Clinical NER Models with Synthetic Reports</dc:title>
  <dc:subject/>
  <dc:creator/>
  <cp:keywords/>
  <dc:description>generated using python-pptx</dc:description>
  <cp:lastModifiedBy>Michele Bufano</cp:lastModifiedBy>
  <cp:revision>9</cp:revision>
  <dcterms:created xsi:type="dcterms:W3CDTF">2013-01-27T09:14:16Z</dcterms:created>
  <dcterms:modified xsi:type="dcterms:W3CDTF">2025-10-02T08:27:02Z</dcterms:modified>
  <cp:category/>
</cp:coreProperties>
</file>