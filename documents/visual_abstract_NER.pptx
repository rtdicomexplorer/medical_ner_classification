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  <p:sldId id="257" r:id="rId7"/>
    <p:sldId id="256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A5A"/>
    <a:srgbClr val="04253A"/>
    <a:srgbClr val="0846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739AACA-63AE-29FC-D28F-81F2CC7362FD}"/>
              </a:ext>
            </a:extLst>
          </p:cNvPr>
          <p:cNvSpPr txBox="1"/>
          <p:nvPr/>
        </p:nvSpPr>
        <p:spPr>
          <a:xfrm>
            <a:off x="316992" y="3528316"/>
            <a:ext cx="8180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MEXEGER</a:t>
            </a:r>
            <a:r>
              <a:rPr lang="de-DE" dirty="0"/>
              <a:t> </a:t>
            </a:r>
            <a:r>
              <a:rPr lang="de-DE" dirty="0" err="1"/>
              <a:t>serves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high-</a:t>
            </a:r>
            <a:r>
              <a:rPr lang="de-DE" dirty="0" err="1"/>
              <a:t>precision</a:t>
            </a:r>
            <a:r>
              <a:rPr lang="de-DE" dirty="0"/>
              <a:t> </a:t>
            </a:r>
            <a:r>
              <a:rPr lang="de-DE" dirty="0" err="1"/>
              <a:t>bridge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unstructured</a:t>
            </a:r>
            <a:r>
              <a:rPr lang="de-DE" dirty="0"/>
              <a:t> </a:t>
            </a:r>
            <a:r>
              <a:rPr lang="de-DE" dirty="0" err="1"/>
              <a:t>clinical</a:t>
            </a:r>
            <a:r>
              <a:rPr lang="de-DE" dirty="0"/>
              <a:t> narratives and </a:t>
            </a:r>
            <a:r>
              <a:rPr lang="de-DE" dirty="0" err="1"/>
              <a:t>structured</a:t>
            </a:r>
            <a:r>
              <a:rPr lang="de-DE" dirty="0"/>
              <a:t>, </a:t>
            </a:r>
            <a:r>
              <a:rPr lang="de-DE" dirty="0" err="1"/>
              <a:t>actionable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 By </a:t>
            </a:r>
            <a:r>
              <a:rPr lang="de-DE" dirty="0" err="1"/>
              <a:t>leveraging</a:t>
            </a:r>
            <a:r>
              <a:rPr lang="de-DE" dirty="0"/>
              <a:t> a </a:t>
            </a:r>
            <a:r>
              <a:rPr lang="de-DE" dirty="0" err="1"/>
              <a:t>fine-tuned</a:t>
            </a:r>
            <a:r>
              <a:rPr lang="de-DE" dirty="0"/>
              <a:t> GBERT </a:t>
            </a:r>
            <a:r>
              <a:rPr lang="de-DE" dirty="0" err="1"/>
              <a:t>architecture</a:t>
            </a:r>
            <a:r>
              <a:rPr lang="de-DE" dirty="0"/>
              <a:t>,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transforms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German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standardized</a:t>
            </a:r>
            <a:r>
              <a:rPr lang="de-DE" dirty="0"/>
              <a:t>, interoperable </a:t>
            </a:r>
            <a:r>
              <a:rPr lang="de-DE" dirty="0" err="1"/>
              <a:t>assets</a:t>
            </a:r>
            <a:r>
              <a:rPr lang="de-DE" dirty="0"/>
              <a:t> (ICD-10, SNOMED CT, FHIR).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0C520C7-4D84-8449-0658-E9D85183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48" y="0"/>
            <a:ext cx="3032022" cy="234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9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E6DB3-BD7D-F72A-91BF-2753CC41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2650"/>
            <a:ext cx="8229600" cy="1143000"/>
          </a:xfrm>
        </p:spPr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?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186A368-13BD-7246-7573-90657281A16B}"/>
              </a:ext>
            </a:extLst>
          </p:cNvPr>
          <p:cNvSpPr txBox="1"/>
          <p:nvPr/>
        </p:nvSpPr>
        <p:spPr>
          <a:xfrm>
            <a:off x="5903818" y="855758"/>
            <a:ext cx="3240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effectLst/>
                <a:latin typeface="+mj-lt"/>
              </a:rPr>
              <a:t>In our project we have used </a:t>
            </a:r>
            <a:r>
              <a:rPr lang="en-US" sz="1400" b="1" i="0" dirty="0">
                <a:effectLst/>
                <a:latin typeface="+mj-lt"/>
              </a:rPr>
              <a:t>Hugging-Face</a:t>
            </a:r>
          </a:p>
          <a:p>
            <a:r>
              <a:rPr lang="en-US" sz="1400" b="0" i="0" dirty="0">
                <a:effectLst/>
                <a:latin typeface="+mj-lt"/>
              </a:rPr>
              <a:t> with </a:t>
            </a:r>
            <a:r>
              <a:rPr lang="en-US" sz="1400" b="1" i="0" dirty="0" err="1">
                <a:effectLst/>
                <a:latin typeface="+mj-lt"/>
              </a:rPr>
              <a:t>gbert</a:t>
            </a:r>
            <a:r>
              <a:rPr lang="en-US" sz="1400" b="1" i="0" dirty="0">
                <a:effectLst/>
                <a:latin typeface="+mj-lt"/>
              </a:rPr>
              <a:t>-base</a:t>
            </a:r>
            <a:r>
              <a:rPr lang="en-US" sz="1400" b="0" i="0" dirty="0">
                <a:effectLst/>
                <a:latin typeface="+mj-lt"/>
              </a:rPr>
              <a:t> for German language..</a:t>
            </a:r>
            <a:endParaRPr lang="de-DE" sz="1400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88FB5AF-7636-BD68-1B76-00A8F1A39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4" y="859536"/>
            <a:ext cx="5355238" cy="59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4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8E0E1-3533-07A4-988C-221DEE20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de-DE" dirty="0"/>
              <a:t>Trainings </a:t>
            </a:r>
            <a:r>
              <a:rPr lang="de-DE" dirty="0" err="1"/>
              <a:t>data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BCF85F2-96D7-31E5-4F92-CCA1001E0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7" y="1282209"/>
            <a:ext cx="767822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2E194-66AB-7E75-4AA9-596FD6A5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14"/>
            <a:ext cx="8229600" cy="1143000"/>
          </a:xfrm>
        </p:spPr>
        <p:txBody>
          <a:bodyPr/>
          <a:lstStyle/>
          <a:p>
            <a:r>
              <a:rPr lang="de-DE" dirty="0"/>
              <a:t>INFERENCE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99CB502-6235-B6D6-7A62-FE3C6EAC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8" y="917765"/>
            <a:ext cx="4579782" cy="617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58E02-7D76-13D4-8CD7-15DC687A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196"/>
            <a:ext cx="8229600" cy="1143000"/>
          </a:xfrm>
        </p:spPr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…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73F6482-C271-9900-A6BE-CD2C18C44796}"/>
              </a:ext>
            </a:extLst>
          </p:cNvPr>
          <p:cNvSpPr txBox="1"/>
          <p:nvPr/>
        </p:nvSpPr>
        <p:spPr>
          <a:xfrm>
            <a:off x="405517" y="1163196"/>
            <a:ext cx="7450372" cy="42473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CONFIG.py: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There are defined the ENTITIES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DEFINITIONS.py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There are defined the possible random values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TEMPLATES.py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There are defined the Template for synthetic medical report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Trainings data: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1: from template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2: from paraphrase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we have used 50% random...</a:t>
            </a:r>
            <a:endParaRPr lang="de-DE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6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1993" y="127407"/>
            <a:ext cx="8834034" cy="1143000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lang="de-DE" sz="2800" dirty="0">
                <a:solidFill>
                  <a:srgbClr val="063A5A"/>
                </a:solidFill>
              </a:rPr>
              <a:t>MEXGER WORKFLOW</a:t>
            </a:r>
            <a:endParaRPr sz="2800" dirty="0">
              <a:solidFill>
                <a:srgbClr val="063A5A"/>
              </a:solidFill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373894" y="1551710"/>
            <a:ext cx="118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63A5A"/>
                </a:solidFill>
              </a:rPr>
              <a:t>PURPOSE</a:t>
            </a:r>
            <a:endParaRPr lang="de-DE" sz="1600" b="1" dirty="0">
              <a:solidFill>
                <a:srgbClr val="063A5A"/>
              </a:solidFill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3089332" y="1546498"/>
            <a:ext cx="2247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63A5A"/>
                </a:solidFill>
              </a:rPr>
              <a:t>METHOD &amp; MODEL</a:t>
            </a: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03" y="2261435"/>
            <a:ext cx="922149" cy="1017544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916" y="1987591"/>
            <a:ext cx="1404938" cy="142875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94" y="4971628"/>
            <a:ext cx="701345" cy="708502"/>
          </a:xfrm>
          <a:prstGeom prst="rect">
            <a:avLst/>
          </a:prstGeom>
        </p:spPr>
      </p:pic>
      <p:sp>
        <p:nvSpPr>
          <p:cNvPr id="14" name="Textfeld 13"/>
          <p:cNvSpPr txBox="1"/>
          <p:nvPr/>
        </p:nvSpPr>
        <p:spPr>
          <a:xfrm>
            <a:off x="442467" y="4379225"/>
            <a:ext cx="189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063A5A"/>
                </a:solidFill>
              </a:rPr>
              <a:t>FUTURE WORKS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1050101" y="2200399"/>
            <a:ext cx="2110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rgbClr val="063A5A"/>
                </a:solidFill>
              </a:rPr>
              <a:t>Extract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structured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data</a:t>
            </a:r>
            <a:r>
              <a:rPr lang="de-DE" sz="1200" dirty="0">
                <a:solidFill>
                  <a:srgbClr val="063A5A"/>
                </a:solidFill>
              </a:rPr>
              <a:t> (e.g.</a:t>
            </a:r>
          </a:p>
          <a:p>
            <a:r>
              <a:rPr lang="de-DE" sz="1200" dirty="0" err="1">
                <a:solidFill>
                  <a:srgbClr val="063A5A"/>
                </a:solidFill>
              </a:rPr>
              <a:t>diagnoses</a:t>
            </a:r>
            <a:r>
              <a:rPr lang="de-DE" sz="1200" dirty="0">
                <a:solidFill>
                  <a:srgbClr val="063A5A"/>
                </a:solidFill>
              </a:rPr>
              <a:t>, </a:t>
            </a:r>
            <a:r>
              <a:rPr lang="de-DE" sz="1200" dirty="0" err="1">
                <a:solidFill>
                  <a:srgbClr val="063A5A"/>
                </a:solidFill>
              </a:rPr>
              <a:t>Medications</a:t>
            </a:r>
            <a:r>
              <a:rPr lang="de-DE" sz="1200" dirty="0">
                <a:solidFill>
                  <a:srgbClr val="063A5A"/>
                </a:solidFill>
              </a:rPr>
              <a:t>, </a:t>
            </a:r>
            <a:r>
              <a:rPr lang="de-DE" sz="1200" dirty="0" err="1">
                <a:solidFill>
                  <a:srgbClr val="063A5A"/>
                </a:solidFill>
              </a:rPr>
              <a:t>dates</a:t>
            </a:r>
            <a:r>
              <a:rPr lang="de-DE" sz="1200" dirty="0">
                <a:solidFill>
                  <a:srgbClr val="063A5A"/>
                </a:solidFill>
              </a:rPr>
              <a:t>)</a:t>
            </a:r>
          </a:p>
          <a:p>
            <a:r>
              <a:rPr lang="de-DE" sz="1200" dirty="0" err="1">
                <a:solidFill>
                  <a:srgbClr val="063A5A"/>
                </a:solidFill>
              </a:rPr>
              <a:t>from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unstructured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german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</a:p>
          <a:p>
            <a:r>
              <a:rPr lang="de-DE" sz="1200" dirty="0" err="1">
                <a:solidFill>
                  <a:srgbClr val="063A5A"/>
                </a:solidFill>
              </a:rPr>
              <a:t>clinical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text</a:t>
            </a:r>
            <a:endParaRPr lang="de-DE" sz="1200" dirty="0">
              <a:solidFill>
                <a:srgbClr val="063A5A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2740617" y="3379616"/>
            <a:ext cx="32134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063A5A"/>
                </a:solidFill>
              </a:rPr>
              <a:t>Input: Clinical </a:t>
            </a:r>
            <a:r>
              <a:rPr lang="de-DE" sz="1200" dirty="0" err="1">
                <a:solidFill>
                  <a:srgbClr val="063A5A"/>
                </a:solidFill>
              </a:rPr>
              <a:t>text</a:t>
            </a:r>
            <a:r>
              <a:rPr lang="de-DE" sz="1200" dirty="0">
                <a:solidFill>
                  <a:srgbClr val="063A5A"/>
                </a:solidFill>
              </a:rPr>
              <a:t> (PDF, DOCX, </a:t>
            </a:r>
            <a:r>
              <a:rPr lang="de-DE" sz="1200" dirty="0" err="1">
                <a:solidFill>
                  <a:srgbClr val="063A5A"/>
                </a:solidFill>
              </a:rPr>
              <a:t>image</a:t>
            </a:r>
            <a:r>
              <a:rPr lang="de-DE" sz="1200" dirty="0">
                <a:solidFill>
                  <a:srgbClr val="063A5A"/>
                </a:solidFill>
              </a:rPr>
              <a:t>, </a:t>
            </a:r>
            <a:r>
              <a:rPr lang="de-DE" sz="1200" dirty="0" err="1">
                <a:solidFill>
                  <a:srgbClr val="063A5A"/>
                </a:solidFill>
              </a:rPr>
              <a:t>plain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text</a:t>
            </a:r>
            <a:r>
              <a:rPr lang="de-DE" sz="1200" dirty="0">
                <a:solidFill>
                  <a:srgbClr val="063A5A"/>
                </a:solidFill>
              </a:rPr>
              <a:t>)</a:t>
            </a:r>
          </a:p>
          <a:p>
            <a:r>
              <a:rPr lang="de-DE" sz="1200" dirty="0">
                <a:solidFill>
                  <a:srgbClr val="063A5A"/>
                </a:solidFill>
              </a:rPr>
              <a:t>OCR &amp; </a:t>
            </a:r>
            <a:r>
              <a:rPr lang="de-DE" sz="1200" dirty="0" err="1">
                <a:solidFill>
                  <a:srgbClr val="063A5A"/>
                </a:solidFill>
              </a:rPr>
              <a:t>preprocessing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</a:p>
          <a:p>
            <a:r>
              <a:rPr lang="de-DE" sz="1200" dirty="0">
                <a:solidFill>
                  <a:srgbClr val="063A5A"/>
                </a:solidFill>
              </a:rPr>
              <a:t>GBERT </a:t>
            </a:r>
            <a:r>
              <a:rPr lang="de-DE" sz="1200" dirty="0" err="1">
                <a:solidFill>
                  <a:srgbClr val="063A5A"/>
                </a:solidFill>
              </a:rPr>
              <a:t>model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for</a:t>
            </a:r>
            <a:r>
              <a:rPr lang="de-DE" sz="1200" dirty="0">
                <a:solidFill>
                  <a:srgbClr val="063A5A"/>
                </a:solidFill>
              </a:rPr>
              <a:t> NER </a:t>
            </a:r>
            <a:r>
              <a:rPr lang="de-DE" sz="1200" dirty="0" err="1">
                <a:solidFill>
                  <a:srgbClr val="063A5A"/>
                </a:solidFill>
              </a:rPr>
              <a:t>token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level</a:t>
            </a:r>
            <a:endParaRPr lang="de-DE" sz="1200" dirty="0">
              <a:solidFill>
                <a:srgbClr val="063A5A"/>
              </a:solidFill>
            </a:endParaRPr>
          </a:p>
          <a:p>
            <a:r>
              <a:rPr lang="de-DE" sz="1200" dirty="0">
                <a:solidFill>
                  <a:srgbClr val="063A5A"/>
                </a:solidFill>
              </a:rPr>
              <a:t>Post-</a:t>
            </a:r>
            <a:r>
              <a:rPr lang="de-DE" sz="1200" dirty="0" err="1">
                <a:solidFill>
                  <a:srgbClr val="063A5A"/>
                </a:solidFill>
              </a:rPr>
              <a:t>processing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into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structured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outputs</a:t>
            </a:r>
            <a:r>
              <a:rPr lang="de-DE" sz="1200" dirty="0">
                <a:solidFill>
                  <a:srgbClr val="063A5A"/>
                </a:solidFill>
              </a:rPr>
              <a:t>(JSON)</a:t>
            </a:r>
          </a:p>
          <a:p>
            <a:r>
              <a:rPr lang="de-DE" sz="1200" dirty="0" err="1">
                <a:solidFill>
                  <a:srgbClr val="063A5A"/>
                </a:solidFill>
              </a:rPr>
              <a:t>Synthetic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data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used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for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training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and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validation</a:t>
            </a:r>
            <a:endParaRPr lang="de-DE" sz="1200" dirty="0">
              <a:solidFill>
                <a:srgbClr val="063A5A"/>
              </a:solidFill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1151411" y="4971628"/>
            <a:ext cx="2648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rgbClr val="063A5A"/>
                </a:solidFill>
              </a:rPr>
              <a:t>Map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extracted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entities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to</a:t>
            </a:r>
            <a:r>
              <a:rPr lang="de-DE" sz="1200" dirty="0">
                <a:solidFill>
                  <a:srgbClr val="063A5A"/>
                </a:solidFill>
              </a:rPr>
              <a:t> HL7 FHIR</a:t>
            </a:r>
          </a:p>
          <a:p>
            <a:r>
              <a:rPr lang="de-DE" sz="1200" dirty="0" err="1">
                <a:solidFill>
                  <a:srgbClr val="063A5A"/>
                </a:solidFill>
              </a:rPr>
              <a:t>Embed</a:t>
            </a:r>
            <a:r>
              <a:rPr lang="de-DE" sz="1200" dirty="0">
                <a:solidFill>
                  <a:srgbClr val="063A5A"/>
                </a:solidFill>
              </a:rPr>
              <a:t> in DICOM Structured Report</a:t>
            </a:r>
          </a:p>
          <a:p>
            <a:r>
              <a:rPr lang="de-DE" sz="1200" dirty="0">
                <a:solidFill>
                  <a:srgbClr val="063A5A"/>
                </a:solidFill>
              </a:rPr>
              <a:t>Evaluation on </a:t>
            </a:r>
            <a:r>
              <a:rPr lang="de-DE" sz="1200" dirty="0" err="1">
                <a:solidFill>
                  <a:srgbClr val="063A5A"/>
                </a:solidFill>
              </a:rPr>
              <a:t>complex</a:t>
            </a:r>
            <a:r>
              <a:rPr lang="de-DE" sz="1200" dirty="0">
                <a:solidFill>
                  <a:srgbClr val="063A5A"/>
                </a:solidFill>
              </a:rPr>
              <a:t>  </a:t>
            </a:r>
            <a:r>
              <a:rPr lang="de-DE" sz="1200" dirty="0" err="1">
                <a:solidFill>
                  <a:srgbClr val="063A5A"/>
                </a:solidFill>
              </a:rPr>
              <a:t>clinical</a:t>
            </a:r>
            <a:r>
              <a:rPr lang="de-DE" sz="1200" dirty="0">
                <a:solidFill>
                  <a:srgbClr val="063A5A"/>
                </a:solidFill>
              </a:rPr>
              <a:t> </a:t>
            </a:r>
            <a:r>
              <a:rPr lang="de-DE" sz="1200" dirty="0" err="1">
                <a:solidFill>
                  <a:srgbClr val="063A5A"/>
                </a:solidFill>
              </a:rPr>
              <a:t>datasets</a:t>
            </a:r>
            <a:endParaRPr lang="de-DE" sz="1200" dirty="0">
              <a:solidFill>
                <a:srgbClr val="063A5A"/>
              </a:solidFill>
            </a:endParaRPr>
          </a:p>
        </p:txBody>
      </p:sp>
      <p:grpSp>
        <p:nvGrpSpPr>
          <p:cNvPr id="7" name="Gruppieren 6"/>
          <p:cNvGrpSpPr/>
          <p:nvPr/>
        </p:nvGrpSpPr>
        <p:grpSpPr>
          <a:xfrm>
            <a:off x="5944670" y="3416341"/>
            <a:ext cx="2819448" cy="2718441"/>
            <a:chOff x="6115143" y="1553171"/>
            <a:chExt cx="2819448" cy="2718441"/>
          </a:xfrm>
          <a:solidFill>
            <a:srgbClr val="FFFF00"/>
          </a:solidFill>
        </p:grpSpPr>
        <p:sp>
          <p:nvSpPr>
            <p:cNvPr id="6" name="Textfeld 5"/>
            <p:cNvSpPr txBox="1"/>
            <p:nvPr/>
          </p:nvSpPr>
          <p:spPr>
            <a:xfrm>
              <a:off x="6687703" y="1553171"/>
              <a:ext cx="1556836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de-DE" sz="2000" b="1" dirty="0">
                  <a:solidFill>
                    <a:srgbClr val="063A5A"/>
                  </a:solidFill>
                </a:rPr>
                <a:t>KEY RESULTS</a:t>
              </a:r>
            </a:p>
          </p:txBody>
        </p:sp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2551" y="2266931"/>
              <a:ext cx="811051" cy="715900"/>
            </a:xfrm>
            <a:prstGeom prst="rect">
              <a:avLst/>
            </a:prstGeom>
            <a:grpFill/>
          </p:spPr>
        </p:pic>
        <p:pic>
          <p:nvPicPr>
            <p:cNvPr id="16" name="Grafik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15143" y="3180354"/>
              <a:ext cx="1049165" cy="796131"/>
            </a:xfrm>
            <a:prstGeom prst="rect">
              <a:avLst/>
            </a:prstGeom>
            <a:grpFill/>
          </p:spPr>
        </p:pic>
        <p:sp>
          <p:nvSpPr>
            <p:cNvPr id="19" name="Textfeld 18"/>
            <p:cNvSpPr txBox="1"/>
            <p:nvPr/>
          </p:nvSpPr>
          <p:spPr>
            <a:xfrm>
              <a:off x="7004840" y="2043216"/>
              <a:ext cx="1597169" cy="83099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063A5A"/>
                  </a:solidFill>
                </a:rPr>
                <a:t>High </a:t>
              </a:r>
              <a:r>
                <a:rPr lang="de-DE" sz="1200" dirty="0" err="1">
                  <a:solidFill>
                    <a:srgbClr val="063A5A"/>
                  </a:solidFill>
                </a:rPr>
                <a:t>performance</a:t>
              </a:r>
              <a:r>
                <a:rPr lang="de-DE" sz="1200" dirty="0">
                  <a:solidFill>
                    <a:srgbClr val="063A5A"/>
                  </a:solidFill>
                </a:rPr>
                <a:t> on </a:t>
              </a:r>
            </a:p>
            <a:p>
              <a:r>
                <a:rPr lang="de-DE" sz="1200" dirty="0" err="1">
                  <a:solidFill>
                    <a:srgbClr val="063A5A"/>
                  </a:solidFill>
                </a:rPr>
                <a:t>structured</a:t>
              </a:r>
              <a:r>
                <a:rPr lang="de-DE" sz="1200" dirty="0">
                  <a:solidFill>
                    <a:srgbClr val="063A5A"/>
                  </a:solidFill>
                </a:rPr>
                <a:t> </a:t>
              </a:r>
              <a:r>
                <a:rPr lang="de-DE" sz="1200" dirty="0" err="1">
                  <a:solidFill>
                    <a:srgbClr val="063A5A"/>
                  </a:solidFill>
                </a:rPr>
                <a:t>entities</a:t>
              </a:r>
              <a:endParaRPr lang="de-DE" sz="1200" dirty="0">
                <a:solidFill>
                  <a:srgbClr val="063A5A"/>
                </a:solidFill>
              </a:endParaRPr>
            </a:p>
            <a:p>
              <a:r>
                <a:rPr lang="de-DE" sz="1200" b="1" dirty="0">
                  <a:solidFill>
                    <a:srgbClr val="063A5A"/>
                  </a:solidFill>
                </a:rPr>
                <a:t>DATE ≈ 0.90</a:t>
              </a:r>
            </a:p>
            <a:p>
              <a:r>
                <a:rPr lang="de-DE" sz="1200" b="1" dirty="0">
                  <a:solidFill>
                    <a:srgbClr val="063A5A"/>
                  </a:solidFill>
                </a:rPr>
                <a:t>ORG, DOCTOR ≈ 0.85</a:t>
              </a:r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7003204" y="2828112"/>
              <a:ext cx="1644681" cy="83099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de-DE" sz="1200" dirty="0" err="1">
                  <a:solidFill>
                    <a:srgbClr val="063A5A"/>
                  </a:solidFill>
                </a:rPr>
                <a:t>Lower</a:t>
              </a:r>
              <a:r>
                <a:rPr lang="de-DE" sz="1200" dirty="0">
                  <a:solidFill>
                    <a:srgbClr val="063A5A"/>
                  </a:solidFill>
                </a:rPr>
                <a:t> </a:t>
              </a:r>
              <a:r>
                <a:rPr lang="de-DE" sz="1200" dirty="0" err="1">
                  <a:solidFill>
                    <a:srgbClr val="063A5A"/>
                  </a:solidFill>
                </a:rPr>
                <a:t>performance</a:t>
              </a:r>
              <a:r>
                <a:rPr lang="de-DE" sz="1200" dirty="0">
                  <a:solidFill>
                    <a:srgbClr val="063A5A"/>
                  </a:solidFill>
                </a:rPr>
                <a:t> on </a:t>
              </a:r>
            </a:p>
            <a:p>
              <a:r>
                <a:rPr lang="de-DE" sz="1200" dirty="0" err="1">
                  <a:solidFill>
                    <a:srgbClr val="063A5A"/>
                  </a:solidFill>
                </a:rPr>
                <a:t>complex</a:t>
              </a:r>
              <a:r>
                <a:rPr lang="de-DE" sz="1200" dirty="0">
                  <a:solidFill>
                    <a:srgbClr val="063A5A"/>
                  </a:solidFill>
                </a:rPr>
                <a:t> </a:t>
              </a:r>
              <a:r>
                <a:rPr lang="de-DE" sz="1200" dirty="0" err="1">
                  <a:solidFill>
                    <a:srgbClr val="063A5A"/>
                  </a:solidFill>
                </a:rPr>
                <a:t>terms</a:t>
              </a:r>
              <a:endParaRPr lang="de-DE" sz="1200" dirty="0">
                <a:solidFill>
                  <a:srgbClr val="063A5A"/>
                </a:solidFill>
              </a:endParaRPr>
            </a:p>
            <a:p>
              <a:r>
                <a:rPr lang="de-DE" sz="1200" b="1" dirty="0">
                  <a:solidFill>
                    <a:srgbClr val="063A5A"/>
                  </a:solidFill>
                </a:rPr>
                <a:t>DIAGNOSIS, </a:t>
              </a:r>
            </a:p>
            <a:p>
              <a:r>
                <a:rPr lang="de-DE" sz="1200" b="1" dirty="0">
                  <a:solidFill>
                    <a:srgbClr val="063A5A"/>
                  </a:solidFill>
                </a:rPr>
                <a:t>MEDICATION ≈ 0.60</a:t>
              </a:r>
            </a:p>
          </p:txBody>
        </p:sp>
        <p:sp>
          <p:nvSpPr>
            <p:cNvPr id="23" name="Textfeld 22"/>
            <p:cNvSpPr txBox="1"/>
            <p:nvPr/>
          </p:nvSpPr>
          <p:spPr>
            <a:xfrm>
              <a:off x="7042919" y="3625281"/>
              <a:ext cx="1891672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de-DE" sz="1200" dirty="0" err="1">
                  <a:solidFill>
                    <a:srgbClr val="063A5A"/>
                  </a:solidFill>
                </a:rPr>
                <a:t>Frequent</a:t>
              </a:r>
              <a:r>
                <a:rPr lang="de-DE" sz="1200" dirty="0">
                  <a:solidFill>
                    <a:srgbClr val="063A5A"/>
                  </a:solidFill>
                </a:rPr>
                <a:t> </a:t>
              </a:r>
              <a:r>
                <a:rPr lang="de-DE" sz="1200" dirty="0" err="1">
                  <a:solidFill>
                    <a:srgbClr val="063A5A"/>
                  </a:solidFill>
                </a:rPr>
                <a:t>confusions</a:t>
              </a:r>
              <a:endParaRPr lang="de-DE" sz="1200" dirty="0">
                <a:solidFill>
                  <a:srgbClr val="063A5A"/>
                </a:solidFill>
              </a:endParaRPr>
            </a:p>
            <a:p>
              <a:r>
                <a:rPr lang="de-DE" sz="1200" b="1" dirty="0">
                  <a:solidFill>
                    <a:srgbClr val="063A5A"/>
                  </a:solidFill>
                </a:rPr>
                <a:t>SYMPTOMS </a:t>
              </a:r>
              <a:r>
                <a:rPr lang="de-DE" sz="1200" b="1" dirty="0" err="1">
                  <a:solidFill>
                    <a:srgbClr val="063A5A"/>
                  </a:solidFill>
                </a:rPr>
                <a:t>vs</a:t>
              </a:r>
              <a:r>
                <a:rPr lang="de-DE" sz="1200" b="1" dirty="0">
                  <a:solidFill>
                    <a:srgbClr val="063A5A"/>
                  </a:solidFill>
                </a:rPr>
                <a:t> DIAGNOSIS </a:t>
              </a:r>
            </a:p>
            <a:p>
              <a:endParaRPr lang="de-DE" sz="1200" b="1" dirty="0">
                <a:solidFill>
                  <a:srgbClr val="063A5A"/>
                </a:solidFill>
              </a:endParaRPr>
            </a:p>
          </p:txBody>
        </p:sp>
      </p:grpSp>
      <p:grpSp>
        <p:nvGrpSpPr>
          <p:cNvPr id="8" name="Gruppieren 7"/>
          <p:cNvGrpSpPr/>
          <p:nvPr/>
        </p:nvGrpSpPr>
        <p:grpSpPr>
          <a:xfrm>
            <a:off x="5986281" y="1597969"/>
            <a:ext cx="2909746" cy="1653190"/>
            <a:chOff x="5817599" y="4545979"/>
            <a:chExt cx="2909746" cy="1653190"/>
          </a:xfrm>
        </p:grpSpPr>
        <p:pic>
          <p:nvPicPr>
            <p:cNvPr id="2" name="Grafik 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7599" y="4971628"/>
              <a:ext cx="580069" cy="600304"/>
            </a:xfrm>
            <a:prstGeom prst="rect">
              <a:avLst/>
            </a:prstGeom>
          </p:spPr>
        </p:pic>
        <p:sp>
          <p:nvSpPr>
            <p:cNvPr id="22" name="Textfeld 21"/>
            <p:cNvSpPr txBox="1"/>
            <p:nvPr/>
          </p:nvSpPr>
          <p:spPr>
            <a:xfrm>
              <a:off x="6115143" y="4545979"/>
              <a:ext cx="15388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b="1" dirty="0">
                  <a:solidFill>
                    <a:srgbClr val="063A5A"/>
                  </a:solidFill>
                </a:rPr>
                <a:t>EVALUATION</a:t>
              </a:r>
            </a:p>
          </p:txBody>
        </p:sp>
        <p:sp>
          <p:nvSpPr>
            <p:cNvPr id="24" name="Textfeld 23"/>
            <p:cNvSpPr txBox="1"/>
            <p:nvPr/>
          </p:nvSpPr>
          <p:spPr>
            <a:xfrm>
              <a:off x="6551108" y="4998840"/>
              <a:ext cx="217623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063A5A"/>
                  </a:solidFill>
                </a:rPr>
                <a:t>Entity-level-</a:t>
              </a:r>
              <a:r>
                <a:rPr lang="de-DE" sz="1200" dirty="0" err="1">
                  <a:solidFill>
                    <a:srgbClr val="063A5A"/>
                  </a:solidFill>
                </a:rPr>
                <a:t>metrics</a:t>
              </a:r>
              <a:r>
                <a:rPr lang="de-DE" sz="1200" dirty="0">
                  <a:solidFill>
                    <a:srgbClr val="063A5A"/>
                  </a:solidFill>
                </a:rPr>
                <a:t> </a:t>
              </a:r>
            </a:p>
            <a:p>
              <a:r>
                <a:rPr lang="de-DE" sz="1200" dirty="0">
                  <a:solidFill>
                    <a:srgbClr val="063A5A"/>
                  </a:solidFill>
                </a:rPr>
                <a:t>-Precision, Recall, F1</a:t>
              </a:r>
            </a:p>
            <a:p>
              <a:r>
                <a:rPr lang="de-DE" sz="1200" dirty="0" err="1">
                  <a:solidFill>
                    <a:srgbClr val="063A5A"/>
                  </a:solidFill>
                </a:rPr>
                <a:t>Confusion</a:t>
              </a:r>
              <a:r>
                <a:rPr lang="de-DE" sz="1200" dirty="0">
                  <a:solidFill>
                    <a:srgbClr val="063A5A"/>
                  </a:solidFill>
                </a:rPr>
                <a:t> Analysis</a:t>
              </a:r>
            </a:p>
            <a:p>
              <a:pPr marL="171450" indent="-171450">
                <a:buFontTx/>
                <a:buChar char="-"/>
              </a:pPr>
              <a:r>
                <a:rPr lang="de-DE" sz="1200" dirty="0">
                  <a:solidFill>
                    <a:srgbClr val="063A5A"/>
                  </a:solidFill>
                </a:rPr>
                <a:t>Bar </a:t>
              </a:r>
              <a:r>
                <a:rPr lang="de-DE" sz="1200" dirty="0" err="1">
                  <a:solidFill>
                    <a:srgbClr val="063A5A"/>
                  </a:solidFill>
                </a:rPr>
                <a:t>chart</a:t>
              </a:r>
              <a:r>
                <a:rPr lang="de-DE" sz="1200" dirty="0">
                  <a:solidFill>
                    <a:srgbClr val="063A5A"/>
                  </a:solidFill>
                </a:rPr>
                <a:t> &amp; </a:t>
              </a:r>
              <a:r>
                <a:rPr lang="de-DE" sz="1200" dirty="0" err="1">
                  <a:solidFill>
                    <a:srgbClr val="063A5A"/>
                  </a:solidFill>
                </a:rPr>
                <a:t>Heatmap</a:t>
              </a:r>
              <a:endParaRPr lang="de-DE" sz="1200" dirty="0">
                <a:solidFill>
                  <a:srgbClr val="063A5A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de-DE" sz="1200" dirty="0" err="1">
                  <a:solidFill>
                    <a:srgbClr val="063A5A"/>
                  </a:solidFill>
                </a:rPr>
                <a:t>Misclassifications</a:t>
              </a:r>
              <a:r>
                <a:rPr lang="de-DE" sz="1200" dirty="0">
                  <a:solidFill>
                    <a:srgbClr val="063A5A"/>
                  </a:solidFill>
                </a:rPr>
                <a:t> </a:t>
              </a:r>
              <a:r>
                <a:rPr lang="de-DE" sz="1200" dirty="0" err="1">
                  <a:solidFill>
                    <a:srgbClr val="063A5A"/>
                  </a:solidFill>
                </a:rPr>
                <a:t>highlighted</a:t>
              </a:r>
              <a:endParaRPr lang="de-DE" sz="1200" dirty="0">
                <a:solidFill>
                  <a:srgbClr val="063A5A"/>
                </a:solidFill>
              </a:endParaRPr>
            </a:p>
            <a:p>
              <a:endParaRPr lang="de-DE" sz="1200" b="1" dirty="0">
                <a:solidFill>
                  <a:srgbClr val="063A5A"/>
                </a:solidFill>
              </a:endParaRPr>
            </a:p>
          </p:txBody>
        </p:sp>
      </p:grpSp>
      <p:sp>
        <p:nvSpPr>
          <p:cNvPr id="25" name="TextBox 5"/>
          <p:cNvSpPr txBox="1"/>
          <p:nvPr/>
        </p:nvSpPr>
        <p:spPr>
          <a:xfrm>
            <a:off x="457200" y="6292305"/>
            <a:ext cx="6051721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sz="1200" i="1" dirty="0">
                <a:solidFill>
                  <a:srgbClr val="063A5A"/>
                </a:solidFill>
              </a:rPr>
              <a:t>📌 Take-home message: Framework reliably evaluates NER models on synthetic clinical text.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sz="1200" i="1" dirty="0">
                <a:solidFill>
                  <a:srgbClr val="063A5A"/>
                </a:solidFill>
              </a:rPr>
              <a:t>Strong performance on structured data, challenges remain in clinical semantics.</a:t>
            </a:r>
          </a:p>
        </p:txBody>
      </p:sp>
    </p:spTree>
    <p:extLst>
      <p:ext uri="{BB962C8B-B14F-4D97-AF65-F5344CB8AC3E}">
        <p14:creationId xmlns:p14="http://schemas.microsoft.com/office/powerpoint/2010/main" val="115435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Evaluation of Clinical NER Models with Synthetic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2286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Workflow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📄 Synthetic Clinical Reports</a:t>
            </a:r>
          </a:p>
          <a:p>
            <a:pPr>
              <a:defRPr sz="1600"/>
            </a:pPr>
            <a:r>
              <a:t>↓</a:t>
            </a:r>
          </a:p>
          <a:p>
            <a:pPr>
              <a:defRPr sz="1600"/>
            </a:pPr>
            <a:r>
              <a:t>🤖 NER Model Predictions</a:t>
            </a:r>
          </a:p>
          <a:p>
            <a:pPr>
              <a:defRPr sz="1600"/>
            </a:pPr>
            <a:r>
              <a:t>↓</a:t>
            </a:r>
          </a:p>
          <a:p>
            <a:pPr>
              <a:defRPr sz="1600"/>
            </a:pPr>
            <a:r>
              <a:t>📑 Reference Annotations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Evaluation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📊 Entity-level Metrics</a:t>
            </a:r>
          </a:p>
          <a:p>
            <a:pPr>
              <a:defRPr sz="1600"/>
            </a:pPr>
            <a:r>
              <a:t>- Precision, Recall, F1, Support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🔄 Confusion Analysis</a:t>
            </a:r>
          </a:p>
          <a:p>
            <a:pPr>
              <a:defRPr sz="1600"/>
            </a:pPr>
            <a:r>
              <a:t>- Bar chart &amp; Heatmap</a:t>
            </a:r>
          </a:p>
          <a:p>
            <a:pPr>
              <a:defRPr sz="1600"/>
            </a:pPr>
            <a:r>
              <a:t>- Misclassifications highlighted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Key Results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✅ High performance on structured entities (DATE, ORG)</a:t>
            </a:r>
          </a:p>
          <a:p>
            <a:pPr>
              <a:defRPr sz="1600"/>
            </a:pPr>
            <a:r>
              <a:rPr dirty="0"/>
              <a:t>⚠️ Lower recall on clinical terms (DIAGNOSIS, MEDICATION)</a:t>
            </a:r>
          </a:p>
          <a:p>
            <a:pPr>
              <a:defRPr sz="1600"/>
            </a:pPr>
            <a:r>
              <a:rPr dirty="0"/>
              <a:t>🔄 Frequent confusions (SYMPTOM vs DIAGNOSIS)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dirty="0"/>
              <a:t>📌 Take-home message: Framework reliably evaluates NER models on synthetic clinical text.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dirty="0"/>
              <a:t>Strong performance on structured data, challenges remain in clinical semantics.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494868"/>
            <a:ext cx="914400" cy="9144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Entities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53166" y="3657600"/>
            <a:ext cx="1828800" cy="9144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dirty="0"/>
              <a:t>Confusion Matrix</a:t>
            </a:r>
          </a:p>
          <a:p>
            <a:r>
              <a:rPr dirty="0"/>
              <a:t>(DATE vs ORG vs DIAGNOSIS)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3790" y="3494868"/>
            <a:ext cx="1828800" cy="9144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Precision / Recall / 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35026-ACC8-EC41-74F9-2C073D76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BIG PICTURE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9800E16-0313-CC28-C6EE-18DC5C53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638"/>
            <a:ext cx="7528346" cy="489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8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Bildschirmpräsentation (4:3)</PresentationFormat>
  <Paragraphs>85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How does it work?</vt:lpstr>
      <vt:lpstr>Trainings data</vt:lpstr>
      <vt:lpstr>INFERENCE</vt:lpstr>
      <vt:lpstr>Let‘s start…</vt:lpstr>
      <vt:lpstr>MEXGER WORKFLOW</vt:lpstr>
      <vt:lpstr>Evaluation of Clinical NER Models with Synthetic Reports</vt:lpstr>
      <vt:lpstr>THE BIG PICTURE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Clinical NER Models with Synthetic Reports</dc:title>
  <dc:subject/>
  <dc:creator/>
  <cp:keywords/>
  <dc:description>generated using python-pptx</dc:description>
  <cp:lastModifiedBy>Michele Bufano</cp:lastModifiedBy>
  <cp:revision>15</cp:revision>
  <dcterms:created xsi:type="dcterms:W3CDTF">2013-01-27T09:14:16Z</dcterms:created>
  <dcterms:modified xsi:type="dcterms:W3CDTF">2026-03-23T08:59:49Z</dcterms:modified>
  <cp:category/>
</cp:coreProperties>
</file>