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60" r:id="rId3"/>
    <p:sldId id="261" r:id="rId4"/>
    <p:sldId id="262" r:id="rId5"/>
    <p:sldId id="264" r:id="rId6"/>
    <p:sldId id="263" r:id="rId7"/>
    <p:sldId id="257" r:id="rId8"/>
    <p:sldId id="256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63A5A"/>
    <a:srgbClr val="04253A"/>
    <a:srgbClr val="0846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739AACA-63AE-29FC-D28F-81F2CC7362FD}"/>
              </a:ext>
            </a:extLst>
          </p:cNvPr>
          <p:cNvSpPr txBox="1"/>
          <p:nvPr/>
        </p:nvSpPr>
        <p:spPr>
          <a:xfrm>
            <a:off x="316992" y="3528316"/>
            <a:ext cx="818083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/>
              <a:t>A High-Precision Approach to Transforming Clinical Narratives into Structured Data</a:t>
            </a:r>
            <a:r>
              <a:rPr lang="de-DE" sz="3200" dirty="0"/>
              <a:t>. </a:t>
            </a:r>
            <a:endParaRPr lang="en-US" sz="3200" dirty="0"/>
          </a:p>
        </p:txBody>
      </p:sp>
      <p:pic>
        <p:nvPicPr>
          <p:cNvPr id="3" name="Grafik 2" descr="Ein Bild, das Text, Schrift, Grafiken, Logo enthält.&#10;&#10;KI-generierte Inhalte können fehlerhaft sein.">
            <a:extLst>
              <a:ext uri="{FF2B5EF4-FFF2-40B4-BE49-F238E27FC236}">
                <a16:creationId xmlns:a16="http://schemas.microsoft.com/office/drawing/2014/main" id="{A7AA784A-8774-3D39-DC91-3A3A201CD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6829" y="208526"/>
            <a:ext cx="3121158" cy="3121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91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CE6DB3-BD7D-F72A-91BF-2753CC41C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22650"/>
            <a:ext cx="9144000" cy="1143000"/>
          </a:xfrm>
        </p:spPr>
        <p:txBody>
          <a:bodyPr/>
          <a:lstStyle/>
          <a:p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?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186A368-13BD-7246-7573-90657281A16B}"/>
              </a:ext>
            </a:extLst>
          </p:cNvPr>
          <p:cNvSpPr txBox="1"/>
          <p:nvPr/>
        </p:nvSpPr>
        <p:spPr>
          <a:xfrm>
            <a:off x="5568501" y="1228612"/>
            <a:ext cx="43926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+mj-lt"/>
              </a:rPr>
              <a:t>We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use</a:t>
            </a:r>
            <a:r>
              <a:rPr lang="de-DE" sz="1200" dirty="0">
                <a:latin typeface="+mj-lt"/>
              </a:rPr>
              <a:t> GBERT-base via </a:t>
            </a:r>
            <a:r>
              <a:rPr lang="de-DE" sz="1200" dirty="0" err="1">
                <a:latin typeface="+mj-lt"/>
              </a:rPr>
              <a:t>the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Hugging</a:t>
            </a:r>
            <a:r>
              <a:rPr lang="de-DE" sz="1200" dirty="0">
                <a:latin typeface="+mj-lt"/>
              </a:rPr>
              <a:t> Face </a:t>
            </a:r>
            <a:r>
              <a:rPr lang="de-DE" sz="1200" dirty="0" err="1">
                <a:latin typeface="+mj-lt"/>
              </a:rPr>
              <a:t>framework</a:t>
            </a:r>
            <a:endParaRPr lang="de-DE" sz="12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 err="1">
                <a:latin typeface="+mj-lt"/>
              </a:rPr>
              <a:t>Pretrained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transformer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model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for</a:t>
            </a:r>
            <a:r>
              <a:rPr lang="de-DE" sz="1200" dirty="0">
                <a:latin typeface="+mj-lt"/>
              </a:rPr>
              <a:t> German </a:t>
            </a:r>
            <a:r>
              <a:rPr lang="de-DE" sz="1200" dirty="0" err="1">
                <a:latin typeface="+mj-lt"/>
              </a:rPr>
              <a:t>language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processing</a:t>
            </a:r>
            <a:endParaRPr lang="de-DE" sz="12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latin typeface="+mj-lt"/>
              </a:rPr>
              <a:t>Fine-</a:t>
            </a:r>
            <a:r>
              <a:rPr lang="de-DE" sz="1200" dirty="0" err="1">
                <a:latin typeface="+mj-lt"/>
              </a:rPr>
              <a:t>tuned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for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Named</a:t>
            </a:r>
            <a:r>
              <a:rPr lang="de-DE" sz="1200" dirty="0">
                <a:latin typeface="+mj-lt"/>
              </a:rPr>
              <a:t> Entity Recognition (NER) on </a:t>
            </a:r>
            <a:r>
              <a:rPr lang="de-DE" sz="1200" dirty="0" err="1">
                <a:latin typeface="+mj-lt"/>
              </a:rPr>
              <a:t>clinical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text</a:t>
            </a:r>
            <a:endParaRPr lang="de-DE" sz="1200" dirty="0">
              <a:latin typeface="+mj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latin typeface="+mj-lt"/>
              </a:rPr>
              <a:t>Input: </a:t>
            </a:r>
            <a:r>
              <a:rPr lang="de-DE" sz="1200" dirty="0" err="1">
                <a:latin typeface="+mj-lt"/>
              </a:rPr>
              <a:t>clinical</a:t>
            </a:r>
            <a:r>
              <a:rPr lang="de-DE" sz="1200" dirty="0">
                <a:latin typeface="+mj-lt"/>
              </a:rPr>
              <a:t> narratives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200" dirty="0">
                <a:latin typeface="+mj-lt"/>
              </a:rPr>
              <a:t>Output: </a:t>
            </a:r>
            <a:r>
              <a:rPr lang="de-DE" sz="1200" dirty="0" err="1">
                <a:latin typeface="+mj-lt"/>
              </a:rPr>
              <a:t>structured</a:t>
            </a:r>
            <a:r>
              <a:rPr lang="de-DE" sz="1200" dirty="0">
                <a:latin typeface="+mj-lt"/>
              </a:rPr>
              <a:t> </a:t>
            </a:r>
            <a:r>
              <a:rPr lang="de-DE" sz="1200" dirty="0" err="1">
                <a:latin typeface="+mj-lt"/>
              </a:rPr>
              <a:t>entities</a:t>
            </a:r>
            <a:r>
              <a:rPr lang="de-DE" sz="1200" dirty="0">
                <a:latin typeface="+mj-lt"/>
              </a:rPr>
              <a:t> (e.g., </a:t>
            </a:r>
            <a:r>
              <a:rPr lang="de-DE" sz="1200" dirty="0" err="1">
                <a:latin typeface="+mj-lt"/>
              </a:rPr>
              <a:t>diagnoses</a:t>
            </a:r>
            <a:r>
              <a:rPr lang="de-DE" sz="1200" dirty="0">
                <a:latin typeface="+mj-lt"/>
              </a:rPr>
              <a:t>, </a:t>
            </a:r>
            <a:r>
              <a:rPr lang="de-DE" sz="1200" dirty="0" err="1">
                <a:latin typeface="+mj-lt"/>
              </a:rPr>
              <a:t>symptoms</a:t>
            </a:r>
            <a:r>
              <a:rPr lang="de-DE" sz="1200" dirty="0">
                <a:latin typeface="+mj-lt"/>
              </a:rPr>
              <a:t>, </a:t>
            </a:r>
            <a:r>
              <a:rPr lang="de-DE" sz="1200" dirty="0" err="1">
                <a:latin typeface="+mj-lt"/>
              </a:rPr>
              <a:t>dates</a:t>
            </a:r>
            <a:r>
              <a:rPr lang="de-DE" sz="1200" dirty="0">
                <a:latin typeface="+mj-lt"/>
              </a:rPr>
              <a:t>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8FB5AF-7636-BD68-1B76-00A8F1A398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94" y="859536"/>
            <a:ext cx="5355238" cy="5998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44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C8E0E1-3533-07A4-988C-221DEE20D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8229600" cy="1143000"/>
          </a:xfrm>
        </p:spPr>
        <p:txBody>
          <a:bodyPr/>
          <a:lstStyle/>
          <a:p>
            <a:r>
              <a:rPr lang="de-DE" dirty="0"/>
              <a:t>Trainings </a:t>
            </a:r>
            <a:r>
              <a:rPr lang="de-DE" dirty="0" err="1"/>
              <a:t>data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BCF85F2-96D7-31E5-4F92-CCA1001E0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57" y="2374634"/>
            <a:ext cx="7678222" cy="339137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F640D37-6063-431F-BC75-948A29FD7949}"/>
              </a:ext>
            </a:extLst>
          </p:cNvPr>
          <p:cNvSpPr txBox="1"/>
          <p:nvPr/>
        </p:nvSpPr>
        <p:spPr>
          <a:xfrm>
            <a:off x="4978391" y="1229949"/>
            <a:ext cx="387157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10000 synthetic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Template-based + paraphrased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BIO-annotated for NER training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09487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72E194-66AB-7E75-4AA9-596FD6A55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414"/>
            <a:ext cx="8229600" cy="796668"/>
          </a:xfrm>
        </p:spPr>
        <p:txBody>
          <a:bodyPr/>
          <a:lstStyle/>
          <a:p>
            <a:r>
              <a:rPr lang="de-DE" dirty="0"/>
              <a:t>INFERENCE/PREDICTIONS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9CB502-6235-B6D6-7A62-FE3C6EACF8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858" y="917765"/>
            <a:ext cx="4579782" cy="6177979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631153ED-A49C-08A4-44B4-F2312C9A64DF}"/>
              </a:ext>
            </a:extLst>
          </p:cNvPr>
          <p:cNvSpPr txBox="1"/>
          <p:nvPr/>
        </p:nvSpPr>
        <p:spPr>
          <a:xfrm>
            <a:off x="5551135" y="1817806"/>
            <a:ext cx="29902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Input: clinical 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Output: structured entities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01901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0B810D-EC76-1790-730B-44C59BFB6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Work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77A0336-AD84-3662-57B4-6760DA1653A1}"/>
              </a:ext>
            </a:extLst>
          </p:cNvPr>
          <p:cNvSpPr txBox="1"/>
          <p:nvPr/>
        </p:nvSpPr>
        <p:spPr>
          <a:xfrm>
            <a:off x="1574359" y="1987826"/>
            <a:ext cx="580594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Multilingual support via </a:t>
            </a:r>
            <a:r>
              <a:rPr lang="de-DE" dirty="0" err="1"/>
              <a:t>translation</a:t>
            </a:r>
            <a:r>
              <a:rPr lang="de-DE" dirty="0"/>
              <a:t> (</a:t>
            </a:r>
            <a:r>
              <a:rPr lang="de-DE" dirty="0" err="1"/>
              <a:t>MarianMT</a:t>
            </a:r>
            <a:r>
              <a:rPr lang="de-DE" dirty="0"/>
              <a:t> / Google)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Mapping </a:t>
            </a:r>
            <a:r>
              <a:rPr lang="de-DE" dirty="0" err="1"/>
              <a:t>to</a:t>
            </a:r>
            <a:r>
              <a:rPr lang="de-DE" dirty="0"/>
              <a:t> HL7 FHIR </a:t>
            </a:r>
            <a:r>
              <a:rPr lang="de-DE" dirty="0" err="1"/>
              <a:t>resources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Validation on a real </a:t>
            </a:r>
            <a:r>
              <a:rPr lang="de-DE" dirty="0" err="1"/>
              <a:t>clinical</a:t>
            </a:r>
            <a:r>
              <a:rPr lang="de-DE" dirty="0"/>
              <a:t> </a:t>
            </a:r>
            <a:r>
              <a:rPr lang="de-DE" dirty="0" err="1"/>
              <a:t>datasets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947111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658E02-7D76-13D4-8CD7-15DC687AA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0196"/>
            <a:ext cx="8229600" cy="1143000"/>
          </a:xfrm>
        </p:spPr>
        <p:txBody>
          <a:bodyPr/>
          <a:lstStyle/>
          <a:p>
            <a:r>
              <a:rPr lang="de-DE" dirty="0" err="1"/>
              <a:t>Let‘s</a:t>
            </a:r>
            <a:r>
              <a:rPr lang="de-DE" dirty="0"/>
              <a:t> </a:t>
            </a:r>
            <a:r>
              <a:rPr lang="de-DE" dirty="0" err="1"/>
              <a:t>start</a:t>
            </a:r>
            <a:r>
              <a:rPr lang="de-DE" dirty="0"/>
              <a:t>…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73F6482-C271-9900-A6BE-CD2C18C44796}"/>
              </a:ext>
            </a:extLst>
          </p:cNvPr>
          <p:cNvSpPr txBox="1"/>
          <p:nvPr/>
        </p:nvSpPr>
        <p:spPr>
          <a:xfrm>
            <a:off x="405517" y="1163196"/>
            <a:ext cx="7450372" cy="424731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CONFIG.py: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There are defined the ENTITIES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DEFINITIONS.py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There are defined the possible random values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TEMPLATES.py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There are defined the Template for synthetic medical report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Trainings data: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1: from template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2: from paraphrase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we have used 50% random...</a:t>
            </a:r>
            <a:endParaRPr lang="de-DE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3614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/>
          <p:cNvSpPr txBox="1"/>
          <p:nvPr/>
        </p:nvSpPr>
        <p:spPr>
          <a:xfrm>
            <a:off x="373894" y="1551710"/>
            <a:ext cx="1188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PURPOSE</a:t>
            </a:r>
            <a:endParaRPr lang="de-DE" sz="1600" b="1" dirty="0">
              <a:solidFill>
                <a:srgbClr val="063A5A"/>
              </a:solidFill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3089332" y="1546498"/>
            <a:ext cx="2247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METHOD &amp; MODEL</a:t>
            </a:r>
          </a:p>
        </p:txBody>
      </p:sp>
      <p:pic>
        <p:nvPicPr>
          <p:cNvPr id="11" name="Grafik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603" y="2261435"/>
            <a:ext cx="922149" cy="1017544"/>
          </a:xfrm>
          <a:prstGeom prst="rect">
            <a:avLst/>
          </a:prstGeom>
        </p:spPr>
      </p:pic>
      <p:pic>
        <p:nvPicPr>
          <p:cNvPr id="12" name="Grafik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916" y="1987591"/>
            <a:ext cx="1404938" cy="142875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894" y="4971628"/>
            <a:ext cx="701345" cy="708502"/>
          </a:xfrm>
          <a:prstGeom prst="rect">
            <a:avLst/>
          </a:prstGeom>
        </p:spPr>
      </p:pic>
      <p:sp>
        <p:nvSpPr>
          <p:cNvPr id="14" name="Textfeld 13"/>
          <p:cNvSpPr txBox="1"/>
          <p:nvPr/>
        </p:nvSpPr>
        <p:spPr>
          <a:xfrm>
            <a:off x="442467" y="4379225"/>
            <a:ext cx="18964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000" b="1" dirty="0">
                <a:solidFill>
                  <a:srgbClr val="063A5A"/>
                </a:solidFill>
              </a:rPr>
              <a:t>FUTURE WORKS</a:t>
            </a:r>
          </a:p>
        </p:txBody>
      </p:sp>
      <p:sp>
        <p:nvSpPr>
          <p:cNvPr id="17" name="Textfeld 16"/>
          <p:cNvSpPr txBox="1"/>
          <p:nvPr/>
        </p:nvSpPr>
        <p:spPr>
          <a:xfrm>
            <a:off x="1050101" y="2200399"/>
            <a:ext cx="21105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rgbClr val="063A5A"/>
                </a:solidFill>
              </a:rPr>
              <a:t>Extract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</a:t>
            </a:r>
            <a:r>
              <a:rPr lang="de-DE" sz="1200" dirty="0">
                <a:solidFill>
                  <a:srgbClr val="063A5A"/>
                </a:solidFill>
              </a:rPr>
              <a:t> (e.g.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diagnoses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Medications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dates</a:t>
            </a:r>
            <a:r>
              <a:rPr lang="de-DE" sz="1200" dirty="0">
                <a:solidFill>
                  <a:srgbClr val="063A5A"/>
                </a:solidFill>
              </a:rPr>
              <a:t>)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from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unstructured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german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clinical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18" name="Textfeld 17"/>
          <p:cNvSpPr txBox="1"/>
          <p:nvPr/>
        </p:nvSpPr>
        <p:spPr>
          <a:xfrm>
            <a:off x="2740617" y="3379616"/>
            <a:ext cx="321344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>
                <a:solidFill>
                  <a:srgbClr val="063A5A"/>
                </a:solidFill>
              </a:rPr>
              <a:t>Input: Clinical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r>
              <a:rPr lang="de-DE" sz="1200" dirty="0">
                <a:solidFill>
                  <a:srgbClr val="063A5A"/>
                </a:solidFill>
              </a:rPr>
              <a:t> (PDF, DOCX, </a:t>
            </a:r>
            <a:r>
              <a:rPr lang="de-DE" sz="1200" dirty="0" err="1">
                <a:solidFill>
                  <a:srgbClr val="063A5A"/>
                </a:solidFill>
              </a:rPr>
              <a:t>image</a:t>
            </a:r>
            <a:r>
              <a:rPr lang="de-DE" sz="1200" dirty="0">
                <a:solidFill>
                  <a:srgbClr val="063A5A"/>
                </a:solidFill>
              </a:rPr>
              <a:t>, </a:t>
            </a:r>
            <a:r>
              <a:rPr lang="de-DE" sz="1200" dirty="0" err="1">
                <a:solidFill>
                  <a:srgbClr val="063A5A"/>
                </a:solidFill>
              </a:rPr>
              <a:t>plain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text</a:t>
            </a:r>
            <a:r>
              <a:rPr lang="de-DE" sz="1200" dirty="0">
                <a:solidFill>
                  <a:srgbClr val="063A5A"/>
                </a:solidFill>
              </a:rPr>
              <a:t>)</a:t>
            </a:r>
          </a:p>
          <a:p>
            <a:r>
              <a:rPr lang="de-DE" sz="1200" dirty="0">
                <a:solidFill>
                  <a:srgbClr val="063A5A"/>
                </a:solidFill>
              </a:rPr>
              <a:t>OCR &amp; </a:t>
            </a:r>
            <a:r>
              <a:rPr lang="de-DE" sz="1200" dirty="0" err="1">
                <a:solidFill>
                  <a:srgbClr val="063A5A"/>
                </a:solidFill>
              </a:rPr>
              <a:t>preprocessing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</a:p>
          <a:p>
            <a:r>
              <a:rPr lang="de-DE" sz="1200" dirty="0">
                <a:solidFill>
                  <a:srgbClr val="063A5A"/>
                </a:solidFill>
              </a:rPr>
              <a:t>GBERT </a:t>
            </a:r>
            <a:r>
              <a:rPr lang="de-DE" sz="1200" dirty="0" err="1">
                <a:solidFill>
                  <a:srgbClr val="063A5A"/>
                </a:solidFill>
              </a:rPr>
              <a:t>model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for</a:t>
            </a:r>
            <a:r>
              <a:rPr lang="de-DE" sz="1200" dirty="0">
                <a:solidFill>
                  <a:srgbClr val="063A5A"/>
                </a:solidFill>
              </a:rPr>
              <a:t> NER </a:t>
            </a:r>
            <a:r>
              <a:rPr lang="de-DE" sz="1200" dirty="0" err="1">
                <a:solidFill>
                  <a:srgbClr val="063A5A"/>
                </a:solidFill>
              </a:rPr>
              <a:t>token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level</a:t>
            </a:r>
            <a:endParaRPr lang="de-DE" sz="1200" dirty="0">
              <a:solidFill>
                <a:srgbClr val="063A5A"/>
              </a:solidFill>
            </a:endParaRPr>
          </a:p>
          <a:p>
            <a:r>
              <a:rPr lang="de-DE" sz="1200" dirty="0">
                <a:solidFill>
                  <a:srgbClr val="063A5A"/>
                </a:solidFill>
              </a:rPr>
              <a:t>Post-</a:t>
            </a:r>
            <a:r>
              <a:rPr lang="de-DE" sz="1200" dirty="0" err="1">
                <a:solidFill>
                  <a:srgbClr val="063A5A"/>
                </a:solidFill>
              </a:rPr>
              <a:t>processing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into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structured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outputs</a:t>
            </a:r>
            <a:r>
              <a:rPr lang="de-DE" sz="1200" dirty="0">
                <a:solidFill>
                  <a:srgbClr val="063A5A"/>
                </a:solidFill>
              </a:rPr>
              <a:t>(JSON)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Synthetic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used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for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training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and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validation</a:t>
            </a:r>
            <a:endParaRPr lang="de-DE" sz="1200" dirty="0">
              <a:solidFill>
                <a:srgbClr val="063A5A"/>
              </a:solidFill>
            </a:endParaRPr>
          </a:p>
        </p:txBody>
      </p:sp>
      <p:sp>
        <p:nvSpPr>
          <p:cNvPr id="21" name="Textfeld 20"/>
          <p:cNvSpPr txBox="1"/>
          <p:nvPr/>
        </p:nvSpPr>
        <p:spPr>
          <a:xfrm>
            <a:off x="1151411" y="4971628"/>
            <a:ext cx="26482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200" dirty="0" err="1">
                <a:solidFill>
                  <a:srgbClr val="063A5A"/>
                </a:solidFill>
              </a:rPr>
              <a:t>Map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extracted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entities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to</a:t>
            </a:r>
            <a:r>
              <a:rPr lang="de-DE" sz="1200" dirty="0">
                <a:solidFill>
                  <a:srgbClr val="063A5A"/>
                </a:solidFill>
              </a:rPr>
              <a:t> HL7 FHIR</a:t>
            </a:r>
          </a:p>
          <a:p>
            <a:r>
              <a:rPr lang="de-DE" sz="1200" dirty="0" err="1">
                <a:solidFill>
                  <a:srgbClr val="063A5A"/>
                </a:solidFill>
              </a:rPr>
              <a:t>Embed</a:t>
            </a:r>
            <a:r>
              <a:rPr lang="de-DE" sz="1200" dirty="0">
                <a:solidFill>
                  <a:srgbClr val="063A5A"/>
                </a:solidFill>
              </a:rPr>
              <a:t> in DICOM Structured Report</a:t>
            </a:r>
          </a:p>
          <a:p>
            <a:r>
              <a:rPr lang="de-DE" sz="1200" dirty="0">
                <a:solidFill>
                  <a:srgbClr val="063A5A"/>
                </a:solidFill>
              </a:rPr>
              <a:t>Evaluation on </a:t>
            </a:r>
            <a:r>
              <a:rPr lang="de-DE" sz="1200" dirty="0" err="1">
                <a:solidFill>
                  <a:srgbClr val="063A5A"/>
                </a:solidFill>
              </a:rPr>
              <a:t>complex</a:t>
            </a:r>
            <a:r>
              <a:rPr lang="de-DE" sz="1200" dirty="0">
                <a:solidFill>
                  <a:srgbClr val="063A5A"/>
                </a:solidFill>
              </a:rPr>
              <a:t>  </a:t>
            </a:r>
            <a:r>
              <a:rPr lang="de-DE" sz="1200" dirty="0" err="1">
                <a:solidFill>
                  <a:srgbClr val="063A5A"/>
                </a:solidFill>
              </a:rPr>
              <a:t>clinical</a:t>
            </a:r>
            <a:r>
              <a:rPr lang="de-DE" sz="1200" dirty="0">
                <a:solidFill>
                  <a:srgbClr val="063A5A"/>
                </a:solidFill>
              </a:rPr>
              <a:t> </a:t>
            </a:r>
            <a:r>
              <a:rPr lang="de-DE" sz="1200" dirty="0" err="1">
                <a:solidFill>
                  <a:srgbClr val="063A5A"/>
                </a:solidFill>
              </a:rPr>
              <a:t>datasets</a:t>
            </a:r>
            <a:endParaRPr lang="de-DE" sz="1200" dirty="0">
              <a:solidFill>
                <a:srgbClr val="063A5A"/>
              </a:solidFill>
            </a:endParaRPr>
          </a:p>
        </p:txBody>
      </p:sp>
      <p:grpSp>
        <p:nvGrpSpPr>
          <p:cNvPr id="7" name="Gruppieren 6"/>
          <p:cNvGrpSpPr/>
          <p:nvPr/>
        </p:nvGrpSpPr>
        <p:grpSpPr>
          <a:xfrm>
            <a:off x="5944670" y="3416341"/>
            <a:ext cx="2819448" cy="2718441"/>
            <a:chOff x="6115143" y="1553171"/>
            <a:chExt cx="2819448" cy="2718441"/>
          </a:xfrm>
          <a:solidFill>
            <a:srgbClr val="FFFF00"/>
          </a:solidFill>
        </p:grpSpPr>
        <p:sp>
          <p:nvSpPr>
            <p:cNvPr id="6" name="Textfeld 5"/>
            <p:cNvSpPr txBox="1"/>
            <p:nvPr/>
          </p:nvSpPr>
          <p:spPr>
            <a:xfrm>
              <a:off x="6687703" y="1553171"/>
              <a:ext cx="1556836" cy="400110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63A5A"/>
                  </a:solidFill>
                </a:rPr>
                <a:t>KEY RESULTS</a:t>
              </a:r>
            </a:p>
          </p:txBody>
        </p:sp>
        <p:pic>
          <p:nvPicPr>
            <p:cNvPr id="15" name="Grafik 1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551" y="2266931"/>
              <a:ext cx="811051" cy="715900"/>
            </a:xfrm>
            <a:prstGeom prst="rect">
              <a:avLst/>
            </a:prstGeom>
            <a:grpFill/>
          </p:spPr>
        </p:pic>
        <p:pic>
          <p:nvPicPr>
            <p:cNvPr id="16" name="Grafik 1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5143" y="3180354"/>
              <a:ext cx="1049165" cy="796131"/>
            </a:xfrm>
            <a:prstGeom prst="rect">
              <a:avLst/>
            </a:prstGeom>
            <a:grpFill/>
          </p:spPr>
        </p:pic>
        <p:sp>
          <p:nvSpPr>
            <p:cNvPr id="19" name="Textfeld 18"/>
            <p:cNvSpPr txBox="1"/>
            <p:nvPr/>
          </p:nvSpPr>
          <p:spPr>
            <a:xfrm>
              <a:off x="7004840" y="2043216"/>
              <a:ext cx="1597169" cy="830997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063A5A"/>
                  </a:solidFill>
                </a:rPr>
                <a:t>High </a:t>
              </a:r>
              <a:r>
                <a:rPr lang="de-DE" sz="1200" dirty="0" err="1">
                  <a:solidFill>
                    <a:srgbClr val="063A5A"/>
                  </a:solidFill>
                </a:rPr>
                <a:t>performance</a:t>
              </a:r>
              <a:r>
                <a:rPr lang="de-DE" sz="1200" dirty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structured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entities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DATE ≈ 0.90</a:t>
              </a: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ORG, DOCTOR ≈ 0.85</a:t>
              </a:r>
            </a:p>
          </p:txBody>
        </p:sp>
        <p:sp>
          <p:nvSpPr>
            <p:cNvPr id="20" name="Textfeld 19"/>
            <p:cNvSpPr txBox="1"/>
            <p:nvPr/>
          </p:nvSpPr>
          <p:spPr>
            <a:xfrm>
              <a:off x="7003204" y="2828112"/>
              <a:ext cx="1644681" cy="830997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 err="1">
                  <a:solidFill>
                    <a:srgbClr val="063A5A"/>
                  </a:solidFill>
                </a:rPr>
                <a:t>Lower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performance</a:t>
              </a:r>
              <a:r>
                <a:rPr lang="de-DE" sz="1200" dirty="0">
                  <a:solidFill>
                    <a:srgbClr val="063A5A"/>
                  </a:solidFill>
                </a:rPr>
                <a:t> on 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complex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terms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DIAGNOSIS, </a:t>
              </a: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MEDICATION ≈ 0.60</a:t>
              </a:r>
            </a:p>
          </p:txBody>
        </p:sp>
        <p:sp>
          <p:nvSpPr>
            <p:cNvPr id="23" name="Textfeld 22"/>
            <p:cNvSpPr txBox="1"/>
            <p:nvPr/>
          </p:nvSpPr>
          <p:spPr>
            <a:xfrm>
              <a:off x="7042919" y="3625281"/>
              <a:ext cx="1891672" cy="646331"/>
            </a:xfrm>
            <a:prstGeom prst="rect">
              <a:avLst/>
            </a:prstGeom>
            <a:grpFill/>
          </p:spPr>
          <p:txBody>
            <a:bodyPr wrap="none" rtlCol="0">
              <a:spAutoFit/>
            </a:bodyPr>
            <a:lstStyle/>
            <a:p>
              <a:r>
                <a:rPr lang="de-DE" sz="1200" dirty="0" err="1">
                  <a:solidFill>
                    <a:srgbClr val="063A5A"/>
                  </a:solidFill>
                </a:rPr>
                <a:t>Frequent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confusions</a:t>
              </a:r>
              <a:endParaRPr lang="de-DE" sz="1200" dirty="0">
                <a:solidFill>
                  <a:srgbClr val="063A5A"/>
                </a:solidFill>
              </a:endParaRPr>
            </a:p>
            <a:p>
              <a:r>
                <a:rPr lang="de-DE" sz="1200" b="1" dirty="0">
                  <a:solidFill>
                    <a:srgbClr val="063A5A"/>
                  </a:solidFill>
                </a:rPr>
                <a:t>SYMPTOMS </a:t>
              </a:r>
              <a:r>
                <a:rPr lang="de-DE" sz="1200" b="1" dirty="0" err="1">
                  <a:solidFill>
                    <a:srgbClr val="063A5A"/>
                  </a:solidFill>
                </a:rPr>
                <a:t>vs</a:t>
              </a:r>
              <a:r>
                <a:rPr lang="de-DE" sz="1200" b="1" dirty="0">
                  <a:solidFill>
                    <a:srgbClr val="063A5A"/>
                  </a:solidFill>
                </a:rPr>
                <a:t> DIAGNOSIS </a:t>
              </a: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grpSp>
        <p:nvGrpSpPr>
          <p:cNvPr id="8" name="Gruppieren 7"/>
          <p:cNvGrpSpPr/>
          <p:nvPr/>
        </p:nvGrpSpPr>
        <p:grpSpPr>
          <a:xfrm>
            <a:off x="5986281" y="1597969"/>
            <a:ext cx="2909746" cy="1653190"/>
            <a:chOff x="5817599" y="4545979"/>
            <a:chExt cx="2909746" cy="1653190"/>
          </a:xfrm>
        </p:grpSpPr>
        <p:pic>
          <p:nvPicPr>
            <p:cNvPr id="2" name="Grafik 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17599" y="4971628"/>
              <a:ext cx="580069" cy="600304"/>
            </a:xfrm>
            <a:prstGeom prst="rect">
              <a:avLst/>
            </a:prstGeom>
          </p:spPr>
        </p:pic>
        <p:sp>
          <p:nvSpPr>
            <p:cNvPr id="22" name="Textfeld 21"/>
            <p:cNvSpPr txBox="1"/>
            <p:nvPr/>
          </p:nvSpPr>
          <p:spPr>
            <a:xfrm>
              <a:off x="6115143" y="4545979"/>
              <a:ext cx="15388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 dirty="0">
                  <a:solidFill>
                    <a:srgbClr val="063A5A"/>
                  </a:solidFill>
                </a:rPr>
                <a:t>EVALUATION</a:t>
              </a:r>
            </a:p>
          </p:txBody>
        </p:sp>
        <p:sp>
          <p:nvSpPr>
            <p:cNvPr id="24" name="Textfeld 23"/>
            <p:cNvSpPr txBox="1"/>
            <p:nvPr/>
          </p:nvSpPr>
          <p:spPr>
            <a:xfrm>
              <a:off x="6551108" y="4998840"/>
              <a:ext cx="2176237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 dirty="0">
                  <a:solidFill>
                    <a:srgbClr val="063A5A"/>
                  </a:solidFill>
                </a:rPr>
                <a:t>Entity-level-</a:t>
              </a:r>
              <a:r>
                <a:rPr lang="de-DE" sz="1200" dirty="0" err="1">
                  <a:solidFill>
                    <a:srgbClr val="063A5A"/>
                  </a:solidFill>
                </a:rPr>
                <a:t>metrics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</a:p>
            <a:p>
              <a:r>
                <a:rPr lang="de-DE" sz="1200" dirty="0">
                  <a:solidFill>
                    <a:srgbClr val="063A5A"/>
                  </a:solidFill>
                </a:rPr>
                <a:t>-Precision, Recall, F1</a:t>
              </a:r>
            </a:p>
            <a:p>
              <a:r>
                <a:rPr lang="de-DE" sz="1200" dirty="0" err="1">
                  <a:solidFill>
                    <a:srgbClr val="063A5A"/>
                  </a:solidFill>
                </a:rPr>
                <a:t>Confusion</a:t>
              </a:r>
              <a:r>
                <a:rPr lang="de-DE" sz="1200" dirty="0">
                  <a:solidFill>
                    <a:srgbClr val="063A5A"/>
                  </a:solidFill>
                </a:rPr>
                <a:t> Analysis</a:t>
              </a:r>
            </a:p>
            <a:p>
              <a:pPr marL="171450" indent="-171450">
                <a:buFontTx/>
                <a:buChar char="-"/>
              </a:pPr>
              <a:r>
                <a:rPr lang="de-DE" sz="1200" dirty="0">
                  <a:solidFill>
                    <a:srgbClr val="063A5A"/>
                  </a:solidFill>
                </a:rPr>
                <a:t>Bar </a:t>
              </a:r>
              <a:r>
                <a:rPr lang="de-DE" sz="1200" dirty="0" err="1">
                  <a:solidFill>
                    <a:srgbClr val="063A5A"/>
                  </a:solidFill>
                </a:rPr>
                <a:t>chart</a:t>
              </a:r>
              <a:r>
                <a:rPr lang="de-DE" sz="1200" dirty="0">
                  <a:solidFill>
                    <a:srgbClr val="063A5A"/>
                  </a:solidFill>
                </a:rPr>
                <a:t> &amp; </a:t>
              </a:r>
              <a:r>
                <a:rPr lang="de-DE" sz="1200" dirty="0" err="1">
                  <a:solidFill>
                    <a:srgbClr val="063A5A"/>
                  </a:solidFill>
                </a:rPr>
                <a:t>Heatmap</a:t>
              </a:r>
              <a:endParaRPr lang="de-DE" sz="1200" dirty="0">
                <a:solidFill>
                  <a:srgbClr val="063A5A"/>
                </a:solidFill>
              </a:endParaRPr>
            </a:p>
            <a:p>
              <a:pPr marL="171450" indent="-171450">
                <a:buFontTx/>
                <a:buChar char="-"/>
              </a:pPr>
              <a:r>
                <a:rPr lang="de-DE" sz="1200" dirty="0" err="1">
                  <a:solidFill>
                    <a:srgbClr val="063A5A"/>
                  </a:solidFill>
                </a:rPr>
                <a:t>Misclassifications</a:t>
              </a:r>
              <a:r>
                <a:rPr lang="de-DE" sz="1200" dirty="0">
                  <a:solidFill>
                    <a:srgbClr val="063A5A"/>
                  </a:solidFill>
                </a:rPr>
                <a:t> </a:t>
              </a:r>
              <a:r>
                <a:rPr lang="de-DE" sz="1200" dirty="0" err="1">
                  <a:solidFill>
                    <a:srgbClr val="063A5A"/>
                  </a:solidFill>
                </a:rPr>
                <a:t>highlighted</a:t>
              </a:r>
              <a:endParaRPr lang="de-DE" sz="1200" dirty="0">
                <a:solidFill>
                  <a:srgbClr val="063A5A"/>
                </a:solidFill>
              </a:endParaRPr>
            </a:p>
            <a:p>
              <a:endParaRPr lang="de-DE" sz="1200" b="1" dirty="0">
                <a:solidFill>
                  <a:srgbClr val="063A5A"/>
                </a:solidFill>
              </a:endParaRPr>
            </a:p>
          </p:txBody>
        </p:sp>
      </p:grpSp>
      <p:sp>
        <p:nvSpPr>
          <p:cNvPr id="25" name="TextBox 5"/>
          <p:cNvSpPr txBox="1"/>
          <p:nvPr/>
        </p:nvSpPr>
        <p:spPr>
          <a:xfrm>
            <a:off x="457200" y="6292305"/>
            <a:ext cx="6051721" cy="461665"/>
          </a:xfrm>
          <a:prstGeom prst="rect">
            <a:avLst/>
          </a:prstGeom>
          <a:solidFill>
            <a:srgbClr val="FFFF00"/>
          </a:solidFill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1200" i="1" dirty="0">
                <a:solidFill>
                  <a:srgbClr val="063A5A"/>
                </a:solidFill>
              </a:rPr>
              <a:t>Strong performance on structured data, challenges remain in clinical semantics.</a:t>
            </a:r>
          </a:p>
        </p:txBody>
      </p:sp>
      <p:pic>
        <p:nvPicPr>
          <p:cNvPr id="9" name="Grafik 8" descr="Ein Bild, das Text, Schrift, Grafiken, Logo enthält.&#10;&#10;KI-generierte Inhalte können fehlerhaft sein.">
            <a:extLst>
              <a:ext uri="{FF2B5EF4-FFF2-40B4-BE49-F238E27FC236}">
                <a16:creationId xmlns:a16="http://schemas.microsoft.com/office/drawing/2014/main" id="{9B41162D-CE29-8547-8340-88C612442DE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9411" y="0"/>
            <a:ext cx="864589" cy="86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4350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rPr dirty="0"/>
              <a:t>Evaluation of Clinical NER Models with Synthetic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371600"/>
            <a:ext cx="22860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Workflow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📄 Synthetic Clinical Reports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🤖 NER Model Predictions</a:t>
            </a:r>
          </a:p>
          <a:p>
            <a:pPr>
              <a:defRPr sz="1600"/>
            </a:pPr>
            <a:r>
              <a:t>↓</a:t>
            </a:r>
          </a:p>
          <a:p>
            <a:pPr>
              <a:defRPr sz="1600"/>
            </a:pPr>
            <a:r>
              <a:t>📑 Reference Annotations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Evaluation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📊 Entity-level Metrics</a:t>
            </a:r>
          </a:p>
          <a:p>
            <a:pPr>
              <a:defRPr sz="1600"/>
            </a:pPr>
            <a:r>
              <a:t>- Precision, Recall, F1, Support</a:t>
            </a:r>
          </a:p>
          <a:p>
            <a:pPr>
              <a:defRPr sz="1600"/>
            </a:pPr>
            <a:endParaRPr/>
          </a:p>
          <a:p>
            <a:pPr>
              <a:defRPr sz="1600"/>
            </a:pPr>
            <a:r>
              <a:t>🔄 Confusion Analysis</a:t>
            </a:r>
          </a:p>
          <a:p>
            <a:pPr>
              <a:defRPr sz="1600"/>
            </a:pPr>
            <a:r>
              <a:t>- Bar chart &amp; Heatmap</a:t>
            </a:r>
          </a:p>
          <a:p>
            <a:pPr>
              <a:defRPr sz="1600"/>
            </a:pPr>
            <a:r>
              <a:t>- Misclassifications highlighted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1371600"/>
            <a:ext cx="2743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rPr dirty="0"/>
              <a:t>Key Results</a:t>
            </a:r>
          </a:p>
          <a:p>
            <a:pPr>
              <a:defRPr sz="1600"/>
            </a:pPr>
            <a:endParaRPr dirty="0"/>
          </a:p>
          <a:p>
            <a:pPr>
              <a:defRPr sz="1600"/>
            </a:pPr>
            <a:r>
              <a:rPr dirty="0"/>
              <a:t>✅ High performance on structured entities (DATE, ORG)</a:t>
            </a:r>
          </a:p>
          <a:p>
            <a:pPr>
              <a:defRPr sz="1600"/>
            </a:pPr>
            <a:r>
              <a:rPr dirty="0"/>
              <a:t>⚠️ Lower recall on clinical terms (DIAGNOSIS, MEDICATION)</a:t>
            </a:r>
          </a:p>
          <a:p>
            <a:pPr>
              <a:defRPr sz="1600"/>
            </a:pPr>
            <a:r>
              <a:rPr dirty="0"/>
              <a:t>🔄 Frequent confusions (SYMPTOM vs DIAGNOSIS)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8229600" cy="1097280"/>
          </a:xfrm>
          <a:prstGeom prst="rect">
            <a:avLst/>
          </a:prstGeom>
          <a:solidFill>
            <a:srgbClr val="FFFF00"/>
          </a:solidFill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3366"/>
                </a:solidFill>
              </a:defRPr>
            </a:pPr>
            <a:r>
              <a:rPr dirty="0"/>
              <a:t>📌 Take-home message: Framework reliably evaluates NER models on synthetic clinical text.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dirty="0"/>
              <a:t>Strong performance on structured data, challenges remain in clinical semantics.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494868"/>
            <a:ext cx="914400" cy="914400"/>
          </a:xfrm>
          <a:prstGeom prst="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Entities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053166" y="3657600"/>
            <a:ext cx="1828800" cy="914400"/>
          </a:xfrm>
          <a:prstGeom prst="rect">
            <a:avLst/>
          </a:prstGeom>
          <a:solidFill>
            <a:srgbClr val="C0504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rPr dirty="0"/>
              <a:t>Confusion Matrix</a:t>
            </a:r>
          </a:p>
          <a:p>
            <a:r>
              <a:rPr dirty="0"/>
              <a:t>(DATE vs ORG vs DIAGNOSIS)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3790" y="3494868"/>
            <a:ext cx="1828800" cy="914400"/>
          </a:xfrm>
          <a:prstGeom prst="rect">
            <a:avLst/>
          </a:prstGeom>
          <a:solidFill>
            <a:srgbClr val="9BBB5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Precision / Recall / F1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F35026-ACC8-EC41-74F9-2C073D768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BIG PICTURE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9800E16-0313-CC28-C6EE-18DC5C532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17638"/>
            <a:ext cx="7528346" cy="4897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48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432</Words>
  <Application>Microsoft Office PowerPoint</Application>
  <PresentationFormat>Bildschirmpräsentation (4:3)</PresentationFormat>
  <Paragraphs>96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PowerPoint-Präsentation</vt:lpstr>
      <vt:lpstr>How does it work?</vt:lpstr>
      <vt:lpstr>Trainings data</vt:lpstr>
      <vt:lpstr>INFERENCE/PREDICTIONS</vt:lpstr>
      <vt:lpstr>Future Work</vt:lpstr>
      <vt:lpstr>Let‘s start…</vt:lpstr>
      <vt:lpstr>PowerPoint-Präsentation</vt:lpstr>
      <vt:lpstr>Evaluation of Clinical NER Models with Synthetic Reports</vt:lpstr>
      <vt:lpstr>THE BIG PICTURE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 of Clinical NER Models with Synthetic Reports</dc:title>
  <dc:subject/>
  <dc:creator/>
  <cp:keywords/>
  <dc:description>generated using python-pptx</dc:description>
  <cp:lastModifiedBy>Michele Bufano</cp:lastModifiedBy>
  <cp:revision>17</cp:revision>
  <dcterms:created xsi:type="dcterms:W3CDTF">2013-01-27T09:14:16Z</dcterms:created>
  <dcterms:modified xsi:type="dcterms:W3CDTF">2026-03-24T08:59:28Z</dcterms:modified>
  <cp:category/>
</cp:coreProperties>
</file>